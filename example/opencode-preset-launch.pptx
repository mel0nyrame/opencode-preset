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892db7a92d24bd4" /><Relationship Type="http://schemas.openxmlformats.org/package/2006/relationships/metadata/core-properties" Target="/docProps/core.xml" Id="R56bbd36be50e41d1" /><Relationship Type="http://schemas.openxmlformats.org/officeDocument/2006/relationships/extended-properties" Target="/docProps/app.xml" Id="R298639fa15b94ddf" /><Relationship Type="http://schemas.openxmlformats.org/officeDocument/2006/relationships/custom-properties" Target="/docProps/custom.xml" Id="Ra59b4462c7704ab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85f4fba6fb94833"/>
    <p:sldId id="257" r:id="R261bf2cbd8ea4f89"/>
    <p:sldId id="258" r:id="Rd2065255445a4fa2"/>
    <p:sldId id="259" r:id="R513998b04901435a"/>
    <p:sldId id="260" r:id="R841ae234681f4c93"/>
    <p:sldId id="261" r:id="R0114bf24738841fe"/>
    <p:sldId id="262" r:id="R65f2d36b7bec4414"/>
    <p:sldId id="263" r:id="R666136c4c69041d9"/>
    <p:sldId id="264" r:id="R058dfbc5f7cd4b9d"/>
    <p:sldId id="265" r:id="R80ba10e55a094abb"/>
    <p:sldId id="266" r:id="R58c70decc9cf46c5"/>
    <p:sldId id="267" r:id="Rd818ea5673074e8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85f4fba6fb94833" /><Relationship Type="http://schemas.openxmlformats.org/officeDocument/2006/relationships/slide" Target="/ppt/slides/slide2.xml" Id="R261bf2cbd8ea4f89" /><Relationship Type="http://schemas.openxmlformats.org/officeDocument/2006/relationships/slide" Target="/ppt/slides/slide3.xml" Id="Rd2065255445a4fa2" /><Relationship Type="http://schemas.openxmlformats.org/officeDocument/2006/relationships/slide" Target="/ppt/slides/slide4.xml" Id="R513998b04901435a" /><Relationship Type="http://schemas.openxmlformats.org/officeDocument/2006/relationships/slide" Target="/ppt/slides/slide5.xml" Id="R841ae234681f4c93" /><Relationship Type="http://schemas.openxmlformats.org/officeDocument/2006/relationships/slide" Target="/ppt/slides/slide6.xml" Id="R0114bf24738841fe" /><Relationship Type="http://schemas.openxmlformats.org/officeDocument/2006/relationships/slide" Target="/ppt/slides/slide7.xml" Id="R65f2d36b7bec4414" /><Relationship Type="http://schemas.openxmlformats.org/officeDocument/2006/relationships/slide" Target="/ppt/slides/slide8.xml" Id="R666136c4c69041d9" /><Relationship Type="http://schemas.openxmlformats.org/officeDocument/2006/relationships/slide" Target="/ppt/slides/slide9.xml" Id="R058dfbc5f7cd4b9d" /><Relationship Type="http://schemas.openxmlformats.org/officeDocument/2006/relationships/slide" Target="/ppt/slides/slide10.xml" Id="R80ba10e55a094abb" /><Relationship Type="http://schemas.openxmlformats.org/officeDocument/2006/relationships/slide" Target="/ppt/slides/slide11.xml" Id="R58c70decc9cf46c5" /><Relationship Type="http://schemas.openxmlformats.org/officeDocument/2006/relationships/slide" Target="/ppt/slides/slide12.xml" Id="Rd818ea5673074e8c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开场点题：本次分享不是推销一个万能工具，而是介绍一种把复杂任务拆给专业角色的编排思路。当前为 v0.1.0 早期版本，需要按环境调整。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先建立共识：复杂工程任务不是“一个聪明助手”就能包办的。三类问题来自仓库设计假设，不是定量测试结论。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强调这不是性能对比，而是组织方式对比。多 Agent 模式的设计目标是分工与验证，实际成本取决于调度与网络。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这是编排流程示意图，不是确定流水线。每一步都可根据任务裁剪；验证不通过时需要回退或重派。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角色不是越多越好。Orchestrator 负责规划与验收，各专业 Agent 负责执行。默认模型分配可在配置文件中查看，但需按环境调整。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规则来自 AGENTS.md，目的是防止 Orchestrator 绕过流程自行包办。注意 Oracle 不是常规复核通道，只在高风险场景升级。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这是仓库文档中的示例流程，说明多角色如何协作。注意：验证步骤必须实际运行，不采信 Agent 自我报告。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说明视觉设计和外部研究需要专门角色。截图仅作界面示例，不要把截图中的版本或模型信息推广为通用兼容性。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避免过度承诺。强调这是个人偏好配置预设，默认模型和外部依赖需按环境调整。不对性能、用户规模、兼容性做任何断言。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关键步骤：不要直接覆盖已有配置，合并后需手动调整模型。配置修改后必须重启才能生效。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检查清单来自仓库文档，不是自动化测试。ping all agents 只是观察可见性，不是功能验证。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收尾：核心收益是专业化分工与验证闭环，不是性能数字。当前为早期版本，配置和模型需按环境调整。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1c6f9d9464c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b13baedb645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38dba34d840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e2c2d2a594f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cf81c49fb46f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39344b287d9403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fbd3352604c97" /><Relationship Type="http://schemas.openxmlformats.org/officeDocument/2006/relationships/notesSlide" Target="/ppt/notesSlides/notesSlide1.xml" Id="R6253bdd65dd540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09b7f037741b8" /><Relationship Type="http://schemas.openxmlformats.org/officeDocument/2006/relationships/notesSlide" Target="/ppt/notesSlides/notesSlide2.xml" Id="R6d0e7ba870d34c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6f440e9d044c8" /><Relationship Type="http://schemas.openxmlformats.org/officeDocument/2006/relationships/notesSlide" Target="/ppt/notesSlides/notesSlide3.xml" Id="Rd0ec7b20204941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dc5527afe4f80" /><Relationship Type="http://schemas.openxmlformats.org/officeDocument/2006/relationships/notesSlide" Target="/ppt/notesSlides/notesSlide4.xml" Id="Rd057e62e9c26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e76c9b49240cc" /><Relationship Type="http://schemas.openxmlformats.org/officeDocument/2006/relationships/notesSlide" Target="/ppt/notesSlides/notesSlide5.xml" Id="R17f9da7ed7154a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97ea9d7434ac5" /><Relationship Type="http://schemas.openxmlformats.org/officeDocument/2006/relationships/notesSlide" Target="/ppt/notesSlides/notesSlide6.xml" Id="R2338555aac0d46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0899b09954c85" /><Relationship Type="http://schemas.openxmlformats.org/officeDocument/2006/relationships/notesSlide" Target="/ppt/notesSlides/notesSlide7.xml" Id="R8220b9391bfc49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6feae3c9d4970" /><Relationship Type="http://schemas.openxmlformats.org/officeDocument/2006/relationships/image" Target="/ppt/media/image.png" Id="Rc47f6b5c3cfd4d58" /><Relationship Type="http://schemas.openxmlformats.org/officeDocument/2006/relationships/notesSlide" Target="/ppt/notesSlides/notesSlide8.xml" Id="Reab6c9b6c23048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d59c610ac4cb9" /><Relationship Type="http://schemas.openxmlformats.org/officeDocument/2006/relationships/notesSlide" Target="/ppt/notesSlides/notesSlide9.xml" Id="R0663d894465347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e18c1543a4da3" /><Relationship Type="http://schemas.openxmlformats.org/officeDocument/2006/relationships/notesSlide" Target="/ppt/notesSlides/notesSlide10.xml" Id="R3ff71145cfa346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e64aeef7849c8" /><Relationship Type="http://schemas.openxmlformats.org/officeDocument/2006/relationships/notesSlide" Target="/ppt/notesSlides/notesSlide11.xml" Id="Rf49c522aaab544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a4968670c45f0" /><Relationship Type="http://schemas.openxmlformats.org/officeDocument/2006/relationships/notesSlide" Target="/ppt/notesSlides/notesSlide12.xml" Id="R4974cbe1c0774230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/>
      <p:sp>
        <p:nvSpPr>
          <p:cNvPr id="100000" name="TopLine"/>
          <p:cNvSpPr/>
          <p:nvPr/>
        </p:nvSpPr>
        <p:spPr>
          <a:xfrm xmlns:a="http://schemas.openxmlformats.org/drawingml/2006/main">
            <a:off x="0" y="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CoverTitle"/>
          <p:cNvSpPr txBox="1"/>
          <p:nvPr/>
        </p:nvSpPr>
        <p:spPr>
          <a:xfrm xmlns:a="http://schemas.openxmlformats.org/drawingml/2006/main">
            <a:off x="720000" y="2340000"/>
            <a:ext cx="107532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E8E8E8"/>
                </a:solidFill>
                <a:latin typeface="PingFang SC"/>
                <a:ea typeface="PingFang SC"/>
              </a:rPr>
              <a:t>让 AI 编程从单 Agent 对话</a:t>
            </a:r>
          </a:p>
          <a:p xmlns:a="http://schemas.openxmlformats.org/drawingml/2006/main">
            <a:pPr algn="ctr"/>
            <a:r>
              <a:rPr lang="en-US" sz="4000" b="1">
                <a:solidFill>
                  <a:srgbClr val="E8E8E8"/>
                </a:solidFill>
                <a:latin typeface="PingFang SC"/>
                <a:ea typeface="PingFang SC"/>
              </a:rPr>
              <a:t>走向专业化工作流</a:t>
            </a:r>
          </a:p>
        </p:txBody>
      </p:sp>
      <p:sp>
        <p:nvSpPr>
          <p:cNvPr id="100002" name="CoverSubtitle"/>
          <p:cNvSpPr txBox="1"/>
          <p:nvPr/>
        </p:nvSpPr>
        <p:spPr>
          <a:xfrm xmlns:a="http://schemas.openxmlformats.org/drawingml/2006/main">
            <a:off x="720000" y="414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A8590"/>
                </a:solidFill>
                <a:latin typeface="PingFang SC"/>
                <a:ea typeface="PingFang SC"/>
              </a:rPr>
              <a:t>OpenCode Preset 的设计思路与适用边界</a:t>
            </a:r>
          </a:p>
        </p:txBody>
      </p:sp>
      <p:sp>
        <p:nvSpPr>
          <p:cNvPr id="100003" name="CoverMeta"/>
          <p:cNvSpPr txBox="1"/>
          <p:nvPr/>
        </p:nvSpPr>
        <p:spPr>
          <a:xfrm xmlns:a="http://schemas.openxmlformats.org/drawingml/2006/main">
            <a:off x="720000" y="4752000"/>
            <a:ext cx="1075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00A9A5"/>
                </a:solidFill>
                <a:latin typeface="PingFang SC"/>
                <a:ea typeface="PingFang SC"/>
              </a:rPr>
              <a:t>v0.1.0 · 2026-07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/>
      <p:sp>
        <p:nvSpPr>
          <p:cNvPr id="100004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02 / 12</a:t>
            </a:r>
          </a:p>
        </p:txBody>
      </p:sp>
      <p:sp>
        <p:nvSpPr>
          <p:cNvPr id="100005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329"/>
                </a:solidFill>
                <a:latin typeface="PingFang SC"/>
                <a:ea typeface="PingFang SC"/>
              </a:rPr>
              <a:t>复杂任务下，单一 Agent 的瓶颈</a:t>
            </a:r>
          </a:p>
        </p:txBody>
      </p:sp>
      <p:sp>
        <p:nvSpPr>
          <p:cNvPr id="100006" name="Intro"/>
          <p:cNvSpPr txBox="1"/>
          <p:nvPr/>
        </p:nvSpPr>
        <p:spPr>
          <a:xfrm xmlns:a="http://schemas.openxmlformats.org/drawingml/2006/main">
            <a:off x="540000" y="126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4A5568"/>
                </a:solidFill>
                <a:latin typeface="PingFang SC"/>
                <a:ea typeface="PingFang SC"/>
              </a:rPr>
              <a:t>当同一会话同时承担规划、检索、实现、调研、审查时，容易出现以下问题：</a:t>
            </a:r>
          </a:p>
        </p:txBody>
      </p:sp>
      <p:sp>
        <p:nvSpPr>
          <p:cNvPr id="100007" name="Card1"/>
          <p:cNvSpPr/>
          <p:nvPr/>
        </p:nvSpPr>
        <p:spPr>
          <a:xfrm xmlns:a="http://schemas.openxmlformats.org/drawingml/2006/main">
            <a:off x="540000" y="1800000"/>
            <a:ext cx="35208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Card1Accent"/>
          <p:cNvSpPr/>
          <p:nvPr/>
        </p:nvSpPr>
        <p:spPr>
          <a:xfrm xmlns:a="http://schemas.openxmlformats.org/drawingml/2006/main">
            <a:off x="540000" y="1800000"/>
            <a:ext cx="35208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Card1Title"/>
          <p:cNvSpPr txBox="1"/>
          <p:nvPr/>
        </p:nvSpPr>
        <p:spPr>
          <a:xfrm xmlns:a="http://schemas.openxmlformats.org/drawingml/2006/main">
            <a:off x="792000" y="2160000"/>
            <a:ext cx="3016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1E2329"/>
                </a:solidFill>
                <a:latin typeface="PingFang SC"/>
                <a:ea typeface="PingFang SC"/>
              </a:rPr>
              <a:t>上下文膨胀</a:t>
            </a:r>
          </a:p>
        </p:txBody>
      </p:sp>
      <p:sp>
        <p:nvSpPr>
          <p:cNvPr id="100010" name="Card1Body"/>
          <p:cNvSpPr txBox="1"/>
          <p:nvPr/>
        </p:nvSpPr>
        <p:spPr>
          <a:xfrm xmlns:a="http://schemas.openxmlformats.org/drawingml/2006/main">
            <a:off x="792000" y="2592000"/>
            <a:ext cx="3016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4A5568"/>
                </a:solidFill>
                <a:latin typeface="PingFang SC"/>
                <a:ea typeface="PingFang SC"/>
              </a:rPr>
              <a:t>规划、检索、实现、调研挤在同一个窗口，中间产物与决策难以长期保留。</a:t>
            </a:r>
          </a:p>
        </p:txBody>
      </p:sp>
      <p:sp>
        <p:nvSpPr>
          <p:cNvPr id="100011" name="Card2"/>
          <p:cNvSpPr/>
          <p:nvPr/>
        </p:nvSpPr>
        <p:spPr>
          <a:xfrm xmlns:a="http://schemas.openxmlformats.org/drawingml/2006/main">
            <a:off x="4334400" y="1800000"/>
            <a:ext cx="35208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Card2Accent"/>
          <p:cNvSpPr/>
          <p:nvPr/>
        </p:nvSpPr>
        <p:spPr>
          <a:xfrm xmlns:a="http://schemas.openxmlformats.org/drawingml/2006/main">
            <a:off x="4334400" y="1800000"/>
            <a:ext cx="35208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Card2Title"/>
          <p:cNvSpPr txBox="1"/>
          <p:nvPr/>
        </p:nvSpPr>
        <p:spPr>
          <a:xfrm xmlns:a="http://schemas.openxmlformats.org/drawingml/2006/main">
            <a:off x="4586400" y="2160000"/>
            <a:ext cx="3016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1E2329"/>
                </a:solidFill>
                <a:latin typeface="PingFang SC"/>
                <a:ea typeface="PingFang SC"/>
              </a:rPr>
              <a:t>专业性稀释</a:t>
            </a:r>
          </a:p>
        </p:txBody>
      </p:sp>
      <p:sp>
        <p:nvSpPr>
          <p:cNvPr id="100014" name="Card2Body"/>
          <p:cNvSpPr txBox="1"/>
          <p:nvPr/>
        </p:nvSpPr>
        <p:spPr>
          <a:xfrm xmlns:a="http://schemas.openxmlformats.org/drawingml/2006/main">
            <a:off x="4586400" y="2592000"/>
            <a:ext cx="3016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4A5568"/>
                </a:solidFill>
                <a:latin typeface="PingFang SC"/>
                <a:ea typeface="PingFang SC"/>
              </a:rPr>
              <a:t>单一模型难以在代码、设计、外部研究等所有领域保持稳定专业输出。</a:t>
            </a:r>
          </a:p>
        </p:txBody>
      </p:sp>
      <p:sp>
        <p:nvSpPr>
          <p:cNvPr id="100015" name="Card3"/>
          <p:cNvSpPr/>
          <p:nvPr/>
        </p:nvSpPr>
        <p:spPr>
          <a:xfrm xmlns:a="http://schemas.openxmlformats.org/drawingml/2006/main">
            <a:off x="8128800" y="1800000"/>
            <a:ext cx="35208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Card3Accent"/>
          <p:cNvSpPr/>
          <p:nvPr/>
        </p:nvSpPr>
        <p:spPr>
          <a:xfrm xmlns:a="http://schemas.openxmlformats.org/drawingml/2006/main">
            <a:off x="8128800" y="1800000"/>
            <a:ext cx="35208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Card3Title"/>
          <p:cNvSpPr txBox="1"/>
          <p:nvPr/>
        </p:nvSpPr>
        <p:spPr>
          <a:xfrm xmlns:a="http://schemas.openxmlformats.org/drawingml/2006/main">
            <a:off x="8380800" y="2160000"/>
            <a:ext cx="3016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1E2329"/>
                </a:solidFill>
                <a:latin typeface="PingFang SC"/>
                <a:ea typeface="PingFang SC"/>
              </a:rPr>
              <a:t>验证薄弱</a:t>
            </a:r>
          </a:p>
        </p:txBody>
      </p:sp>
      <p:sp>
        <p:nvSpPr>
          <p:cNvPr id="100018" name="Card3Body"/>
          <p:cNvSpPr txBox="1"/>
          <p:nvPr/>
        </p:nvSpPr>
        <p:spPr>
          <a:xfrm xmlns:a="http://schemas.openxmlformats.org/drawingml/2006/main">
            <a:off x="8380800" y="2592000"/>
            <a:ext cx="3016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4A5568"/>
                </a:solidFill>
                <a:latin typeface="PingFang SC"/>
                <a:ea typeface="PingFang SC"/>
              </a:rPr>
              <a:t>Agent 直接汇报“已完成”，若不经测试、构建或工具验证，容易交付不可靠结果。</a:t>
            </a:r>
          </a:p>
        </p:txBody>
      </p:sp>
      <p:sp>
        <p:nvSpPr>
          <p:cNvPr id="100190" name="Qualification"/>
          <p:cNvSpPr txBox="1"/>
          <p:nvPr/>
        </p:nvSpPr>
        <p:spPr>
          <a:xfrm>
            <a:off x="540000" y="5580000"/>
            <a:ext cx="111132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7A8590"/>
                </a:solidFill>
                <a:latin typeface="PingFang SC"/>
                <a:ea typeface="PingFang SC"/>
              </a:rPr>
              <a:t>以上为仓库的设计假设，非定量实证结论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/>
      <p:sp>
        <p:nvSpPr>
          <p:cNvPr id="100019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03 / 12</a:t>
            </a:r>
          </a:p>
        </p:txBody>
      </p:sp>
      <p:sp>
        <p:nvSpPr>
          <p:cNvPr id="100020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E8E8E8"/>
                </a:solidFill>
                <a:latin typeface="PingFang SC"/>
                <a:ea typeface="PingFang SC"/>
              </a:rPr>
              <a:t>单 Agent vs 多 Agent</a:t>
            </a:r>
          </a:p>
        </p:txBody>
      </p:sp>
      <p:sp>
        <p:nvSpPr>
          <p:cNvPr id="100021" name="LeftCard"/>
          <p:cNvSpPr/>
          <p:nvPr/>
        </p:nvSpPr>
        <p:spPr>
          <a:xfrm xmlns:a="http://schemas.openxmlformats.org/drawingml/2006/main">
            <a:off x="540000" y="1260000"/>
            <a:ext cx="5220000" cy="4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LeftCardHeader"/>
          <p:cNvSpPr txBox="1"/>
          <p:nvPr/>
        </p:nvSpPr>
        <p:spPr>
          <a:xfrm xmlns:a="http://schemas.openxmlformats.org/drawingml/2006/main">
            <a:off x="900000" y="1620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E8E8E8"/>
                </a:solidFill>
                <a:latin typeface="PingFang SC"/>
                <a:ea typeface="PingFang SC"/>
              </a:rPr>
              <a:t>单 Agent 模式</a:t>
            </a:r>
          </a:p>
        </p:txBody>
      </p:sp>
      <p:sp>
        <p:nvSpPr>
          <p:cNvPr id="100023" name="LeftBullet1"/>
          <p:cNvSpPr txBox="1"/>
          <p:nvPr/>
        </p:nvSpPr>
        <p:spPr>
          <a:xfrm xmlns:a="http://schemas.openxmlformats.org/drawingml/2006/main">
            <a:off x="900000" y="2232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9AA5B1"/>
                </a:solidFill>
                <a:latin typeface="PingFang SC"/>
                <a:ea typeface="PingFang SC"/>
              </a:rPr>
              <a:t>一个会话窗口处理所有任务</a:t>
            </a:r>
          </a:p>
        </p:txBody>
      </p:sp>
      <p:sp>
        <p:nvSpPr>
          <p:cNvPr id="100024" name="LeftBullet2"/>
          <p:cNvSpPr txBox="1"/>
          <p:nvPr/>
        </p:nvSpPr>
        <p:spPr>
          <a:xfrm xmlns:a="http://schemas.openxmlformats.org/drawingml/2006/main">
            <a:off x="900000" y="2808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9AA5B1"/>
                </a:solidFill>
                <a:latin typeface="PingFang SC"/>
                <a:ea typeface="PingFang SC"/>
              </a:rPr>
              <a:t>上下文快速膨胀，难以保留关键决策</a:t>
            </a:r>
          </a:p>
        </p:txBody>
      </p:sp>
      <p:sp>
        <p:nvSpPr>
          <p:cNvPr id="100025" name="LeftBullet3"/>
          <p:cNvSpPr txBox="1"/>
          <p:nvPr/>
        </p:nvSpPr>
        <p:spPr>
          <a:xfrm xmlns:a="http://schemas.openxmlformats.org/drawingml/2006/main">
            <a:off x="900000" y="3384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9AA5B1"/>
                </a:solidFill>
                <a:latin typeface="PingFang SC"/>
                <a:ea typeface="PingFang SC"/>
              </a:rPr>
              <a:t>专业性在多个领域被稀释</a:t>
            </a:r>
          </a:p>
        </p:txBody>
      </p:sp>
      <p:sp>
        <p:nvSpPr>
          <p:cNvPr id="100026" name="RightCard"/>
          <p:cNvSpPr/>
          <p:nvPr/>
        </p:nvSpPr>
        <p:spPr>
          <a:xfrm xmlns:a="http://schemas.openxmlformats.org/drawingml/2006/main">
            <a:off x="6433200" y="1260000"/>
            <a:ext cx="5220000" cy="4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E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RightCardHeader"/>
          <p:cNvSpPr txBox="1"/>
          <p:nvPr/>
        </p:nvSpPr>
        <p:spPr>
          <a:xfrm xmlns:a="http://schemas.openxmlformats.org/drawingml/2006/main">
            <a:off x="6793200" y="1620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00A9A5"/>
                </a:solidFill>
                <a:latin typeface="PingFang SC"/>
                <a:ea typeface="PingFang SC"/>
              </a:rPr>
              <a:t>多 Agent 模式</a:t>
            </a:r>
          </a:p>
        </p:txBody>
      </p:sp>
      <p:sp>
        <p:nvSpPr>
          <p:cNvPr id="100028" name="RightBullet1"/>
          <p:cNvSpPr txBox="1"/>
          <p:nvPr/>
        </p:nvSpPr>
        <p:spPr>
          <a:xfrm xmlns:a="http://schemas.openxmlformats.org/drawingml/2006/main">
            <a:off x="6793200" y="2232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E8E8E8"/>
                </a:solidFill>
                <a:latin typeface="PingFang SC"/>
                <a:ea typeface="PingFang SC"/>
              </a:rPr>
              <a:t>角色绑定专用模型与工具</a:t>
            </a:r>
          </a:p>
        </p:txBody>
      </p:sp>
      <p:sp>
        <p:nvSpPr>
          <p:cNvPr id="100029" name="RightBullet2"/>
          <p:cNvSpPr txBox="1"/>
          <p:nvPr/>
        </p:nvSpPr>
        <p:spPr>
          <a:xfrm xmlns:a="http://schemas.openxmlformats.org/drawingml/2006/main">
            <a:off x="6793200" y="2808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E8E8E8"/>
                </a:solidFill>
                <a:latin typeface="PingFang SC"/>
                <a:ea typeface="PingFang SC"/>
              </a:rPr>
              <a:t>无依赖任务可并行推进</a:t>
            </a:r>
          </a:p>
        </p:txBody>
      </p:sp>
      <p:sp>
        <p:nvSpPr>
          <p:cNvPr id="100030" name="RightBullet3"/>
          <p:cNvSpPr txBox="1"/>
          <p:nvPr/>
        </p:nvSpPr>
        <p:spPr>
          <a:xfrm xmlns:a="http://schemas.openxmlformats.org/drawingml/2006/main">
            <a:off x="6793200" y="3384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E8E8E8"/>
                </a:solidFill>
                <a:latin typeface="PingFang SC"/>
                <a:ea typeface="PingFang SC"/>
              </a:rPr>
              <a:t>交付后需经测试、构建或工具验证</a:t>
            </a:r>
          </a:p>
        </p:txBody>
      </p:sp>
      <p:sp>
        <p:nvSpPr>
          <p:cNvPr id="100031" name="VsLabel"/>
          <p:cNvSpPr/>
          <p:nvPr/>
        </p:nvSpPr>
        <p:spPr>
          <a:xfrm xmlns:a="http://schemas.openxmlformats.org/drawingml/2006/main">
            <a:off x="5738400" y="3060000"/>
            <a:ext cx="720000" cy="7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81A1F"/>
                </a:solidFill>
                <a:latin typeface="PingFang SC"/>
                <a:ea typeface="PingFang SC"/>
              </a:rPr>
              <a:t>vs</a:t>
            </a:r>
          </a:p>
        </p:txBody>
      </p:sp>
      <p:sp>
        <p:nvSpPr>
          <p:cNvPr id="100032" name="Caption"/>
          <p:cNvSpPr txBox="1"/>
          <p:nvPr/>
        </p:nvSpPr>
        <p:spPr>
          <a:xfrm xmlns:a="http://schemas.openxmlformats.org/drawingml/2006/main">
            <a:off x="540000" y="5940000"/>
            <a:ext cx="1111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7A8590"/>
                </a:solidFill>
                <a:latin typeface="PingFang SC"/>
                <a:ea typeface="PingFang SC"/>
              </a:rPr>
              <a:t>这是组织方式对比，不是性能对比；多 Agent 模式同样带来调度与验证成本。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/>
      <p:sp>
        <p:nvSpPr>
          <p:cNvPr id="100033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04 / 12</a:t>
            </a:r>
          </a:p>
        </p:txBody>
      </p:sp>
      <p:sp>
        <p:nvSpPr>
          <p:cNvPr id="100034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E8E8E8"/>
                </a:solidFill>
                <a:latin typeface="PingFang SC"/>
                <a:ea typeface="PingFang SC"/>
              </a:rPr>
              <a:t>完整工作流：请求 → 拆分 → 委派 → 执行 → 验证 → 交付</a:t>
            </a:r>
          </a:p>
        </p:txBody>
      </p:sp>
      <p:sp>
        <p:nvSpPr>
          <p:cNvPr id="100035" name="Step1"/>
          <p:cNvSpPr/>
          <p:nvPr/>
        </p:nvSpPr>
        <p:spPr>
          <a:xfrm xmlns:a="http://schemas.openxmlformats.org/drawingml/2006/main">
            <a:off x="540000" y="2700000"/>
            <a:ext cx="1672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81A1F"/>
                </a:solidFill>
                <a:latin typeface="PingFang SC"/>
                <a:ea typeface="PingFang SC"/>
              </a:rPr>
              <a:t>请求</a:t>
            </a:r>
          </a:p>
        </p:txBody>
      </p:sp>
      <p:sp>
        <p:nvSpPr>
          <p:cNvPr id="100036" name="Step2"/>
          <p:cNvSpPr/>
          <p:nvPr/>
        </p:nvSpPr>
        <p:spPr>
          <a:xfrm xmlns:a="http://schemas.openxmlformats.org/drawingml/2006/main">
            <a:off x="2428200" y="2700000"/>
            <a:ext cx="1672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E8E8E8"/>
                </a:solidFill>
                <a:latin typeface="PingFang SC"/>
                <a:ea typeface="PingFang SC"/>
              </a:rPr>
              <a:t>拆分</a:t>
            </a:r>
          </a:p>
        </p:txBody>
      </p:sp>
      <p:sp>
        <p:nvSpPr>
          <p:cNvPr id="100037" name="Step3"/>
          <p:cNvSpPr/>
          <p:nvPr/>
        </p:nvSpPr>
        <p:spPr>
          <a:xfrm xmlns:a="http://schemas.openxmlformats.org/drawingml/2006/main">
            <a:off x="4316400" y="2700000"/>
            <a:ext cx="1672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E8E8E8"/>
                </a:solidFill>
                <a:latin typeface="PingFang SC"/>
                <a:ea typeface="PingFang SC"/>
              </a:rPr>
              <a:t>委派</a:t>
            </a:r>
          </a:p>
        </p:txBody>
      </p:sp>
      <p:sp>
        <p:nvSpPr>
          <p:cNvPr id="100038" name="Step4"/>
          <p:cNvSpPr/>
          <p:nvPr/>
        </p:nvSpPr>
        <p:spPr>
          <a:xfrm xmlns:a="http://schemas.openxmlformats.org/drawingml/2006/main">
            <a:off x="6204600" y="2700000"/>
            <a:ext cx="1672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E8E8E8"/>
                </a:solidFill>
                <a:latin typeface="PingFang SC"/>
                <a:ea typeface="PingFang SC"/>
              </a:rPr>
              <a:t>执行</a:t>
            </a:r>
          </a:p>
        </p:txBody>
      </p:sp>
      <p:sp>
        <p:nvSpPr>
          <p:cNvPr id="100039" name="Step5"/>
          <p:cNvSpPr/>
          <p:nvPr/>
        </p:nvSpPr>
        <p:spPr>
          <a:xfrm xmlns:a="http://schemas.openxmlformats.org/drawingml/2006/main">
            <a:off x="8092800" y="2700000"/>
            <a:ext cx="1672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E8E8E8"/>
                </a:solidFill>
                <a:latin typeface="PingFang SC"/>
                <a:ea typeface="PingFang SC"/>
              </a:rPr>
              <a:t>验证</a:t>
            </a:r>
          </a:p>
        </p:txBody>
      </p:sp>
      <p:sp>
        <p:nvSpPr>
          <p:cNvPr id="100040" name="Step6"/>
          <p:cNvSpPr/>
          <p:nvPr/>
        </p:nvSpPr>
        <p:spPr>
          <a:xfrm xmlns:a="http://schemas.openxmlformats.org/drawingml/2006/main">
            <a:off x="9981000" y="2700000"/>
            <a:ext cx="1672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81A1F"/>
                </a:solidFill>
                <a:latin typeface="PingFang SC"/>
                <a:ea typeface="PingFang SC"/>
              </a:rPr>
              <a:t>交付</a:t>
            </a:r>
          </a:p>
        </p:txBody>
      </p:sp>
      <p:sp>
        <p:nvSpPr>
          <p:cNvPr id="100041" name="Caption"/>
          <p:cNvSpPr txBox="1"/>
          <p:nvPr/>
        </p:nvSpPr>
        <p:spPr>
          <a:xfrm xmlns:a="http://schemas.openxmlformats.org/drawingml/2006/main">
            <a:off x="540000" y="5940000"/>
            <a:ext cx="1111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7A8590"/>
                </a:solidFill>
                <a:latin typeface="PingFang SC"/>
                <a:ea typeface="PingFang SC"/>
              </a:rPr>
              <a:t>流程示意图：实际任务可裁剪或回退，不是一次性流水线。</a:t>
            </a:r>
          </a:p>
        </p:txBody>
      </p:sp>
      <p:cxnSp>
        <p:nvCxnSpPr>
          <p:cNvPr id="100042" name="Connector 1"/>
          <p:cNvCxnSpPr>
            <a:stCxn xmlns:a="http://schemas.openxmlformats.org/drawingml/2006/main" id="100035" idx="0"/>
            <a:endCxn xmlns:a="http://schemas.openxmlformats.org/drawingml/2006/main" id="100036" idx="0"/>
          </p:cNvCxnSpPr>
          <p:nvPr/>
        </p:nvCxnSpPr>
        <p:spPr>
          <a:xfrm xmlns:a="http://schemas.openxmlformats.org/drawingml/2006/main">
            <a:off x="2212200" y="3150000"/>
            <a:ext cx="216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00A9A5"/>
            </a:solidFill>
            <a:tailEnd type="triangle"/>
          </a:ln>
        </p:spPr>
      </p:cxnSp>
      <p:cxnSp>
        <p:nvCxnSpPr>
          <p:cNvPr id="100043" name="Connector 2"/>
          <p:cNvCxnSpPr>
            <a:stCxn xmlns:a="http://schemas.openxmlformats.org/drawingml/2006/main" id="100036" idx="0"/>
            <a:endCxn xmlns:a="http://schemas.openxmlformats.org/drawingml/2006/main" id="100037" idx="0"/>
          </p:cNvCxnSpPr>
          <p:nvPr/>
        </p:nvCxnSpPr>
        <p:spPr>
          <a:xfrm xmlns:a="http://schemas.openxmlformats.org/drawingml/2006/main">
            <a:off x="4100400" y="3150000"/>
            <a:ext cx="216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00A9A5"/>
            </a:solidFill>
            <a:tailEnd type="triangle"/>
          </a:ln>
        </p:spPr>
      </p:cxnSp>
      <p:cxnSp>
        <p:nvCxnSpPr>
          <p:cNvPr id="100044" name="Connector 3"/>
          <p:cNvCxnSpPr>
            <a:stCxn xmlns:a="http://schemas.openxmlformats.org/drawingml/2006/main" id="100037" idx="0"/>
            <a:endCxn xmlns:a="http://schemas.openxmlformats.org/drawingml/2006/main" id="100038" idx="0"/>
          </p:cNvCxnSpPr>
          <p:nvPr/>
        </p:nvCxnSpPr>
        <p:spPr>
          <a:xfrm xmlns:a="http://schemas.openxmlformats.org/drawingml/2006/main">
            <a:off x="5988600" y="3150000"/>
            <a:ext cx="216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00A9A5"/>
            </a:solidFill>
            <a:tailEnd type="triangle"/>
          </a:ln>
        </p:spPr>
      </p:cxnSp>
      <p:cxnSp>
        <p:nvCxnSpPr>
          <p:cNvPr id="100045" name="Connector 4"/>
          <p:cNvCxnSpPr>
            <a:stCxn xmlns:a="http://schemas.openxmlformats.org/drawingml/2006/main" id="100038" idx="0"/>
            <a:endCxn xmlns:a="http://schemas.openxmlformats.org/drawingml/2006/main" id="100039" idx="0"/>
          </p:cNvCxnSpPr>
          <p:nvPr/>
        </p:nvCxnSpPr>
        <p:spPr>
          <a:xfrm xmlns:a="http://schemas.openxmlformats.org/drawingml/2006/main">
            <a:off x="7876800" y="3150000"/>
            <a:ext cx="216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00A9A5"/>
            </a:solidFill>
            <a:tailEnd type="triangle"/>
          </a:ln>
        </p:spPr>
      </p:cxnSp>
      <p:cxnSp>
        <p:nvCxnSpPr>
          <p:cNvPr id="100046" name="Connector 5"/>
          <p:cNvCxnSpPr>
            <a:stCxn xmlns:a="http://schemas.openxmlformats.org/drawingml/2006/main" id="100039" idx="0"/>
            <a:endCxn xmlns:a="http://schemas.openxmlformats.org/drawingml/2006/main" id="100040" idx="0"/>
          </p:cNvCxnSpPr>
          <p:nvPr/>
        </p:nvCxnSpPr>
        <p:spPr>
          <a:xfrm xmlns:a="http://schemas.openxmlformats.org/drawingml/2006/main">
            <a:off x="9765000" y="3150000"/>
            <a:ext cx="216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00A9A5"/>
            </a:solidFill>
            <a:tailEnd type="triangle"/>
          </a:ln>
        </p:spPr>
      </p:cxn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/>
      <p:sp>
        <p:nvSpPr>
          <p:cNvPr id="100047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05 / 12</a:t>
            </a:r>
          </a:p>
        </p:txBody>
      </p:sp>
      <p:sp>
        <p:nvSpPr>
          <p:cNvPr id="100048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329"/>
                </a:solidFill>
                <a:latin typeface="PingFang SC"/>
                <a:ea typeface="PingFang SC"/>
              </a:rPr>
              <a:t>专业化 Agent 职责</a:t>
            </a:r>
          </a:p>
        </p:txBody>
      </p:sp>
      <p:sp>
        <p:nvSpPr>
          <p:cNvPr id="100049" name="Card1"/>
          <p:cNvSpPr/>
          <p:nvPr/>
        </p:nvSpPr>
        <p:spPr>
          <a:xfrm xmlns:a="http://schemas.openxmlformats.org/drawingml/2006/main">
            <a:off x="540000" y="1260000"/>
            <a:ext cx="2574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Card1Accent"/>
          <p:cNvSpPr/>
          <p:nvPr/>
        </p:nvSpPr>
        <p:spPr>
          <a:xfrm xmlns:a="http://schemas.openxmlformats.org/drawingml/2006/main">
            <a:off x="540000" y="1260000"/>
            <a:ext cx="2574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1" name="Card1Title"/>
          <p:cNvSpPr txBox="1"/>
          <p:nvPr/>
        </p:nvSpPr>
        <p:spPr>
          <a:xfrm xmlns:a="http://schemas.openxmlformats.org/drawingml/2006/main">
            <a:off x="756000" y="1512000"/>
            <a:ext cx="217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E2329"/>
                </a:solidFill>
                <a:latin typeface="PingFang SC"/>
                <a:ea typeface="PingFang SC"/>
              </a:rPr>
              <a:t>Orchestrator</a:t>
            </a:r>
          </a:p>
        </p:txBody>
      </p:sp>
      <p:sp>
        <p:nvSpPr>
          <p:cNvPr id="100052" name="Card1Body"/>
          <p:cNvSpPr txBox="1"/>
          <p:nvPr/>
        </p:nvSpPr>
        <p:spPr>
          <a:xfrm xmlns:a="http://schemas.openxmlformats.org/drawingml/2006/main">
            <a:off x="756000" y="1872000"/>
            <a:ext cx="217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ingFang SC"/>
                <a:ea typeface="PingFang SC"/>
              </a:rPr>
              <a:t>规划、调度、依赖管理与结果验收</a:t>
            </a:r>
          </a:p>
        </p:txBody>
      </p:sp>
      <p:sp>
        <p:nvSpPr>
          <p:cNvPr id="100053" name="Card2"/>
          <p:cNvSpPr/>
          <p:nvPr/>
        </p:nvSpPr>
        <p:spPr>
          <a:xfrm xmlns:a="http://schemas.openxmlformats.org/drawingml/2006/main">
            <a:off x="3387600" y="1260000"/>
            <a:ext cx="2574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Card2Accent"/>
          <p:cNvSpPr/>
          <p:nvPr/>
        </p:nvSpPr>
        <p:spPr>
          <a:xfrm xmlns:a="http://schemas.openxmlformats.org/drawingml/2006/main">
            <a:off x="3387600" y="1260000"/>
            <a:ext cx="2574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5" name="Card2Title"/>
          <p:cNvSpPr txBox="1"/>
          <p:nvPr/>
        </p:nvSpPr>
        <p:spPr>
          <a:xfrm xmlns:a="http://schemas.openxmlformats.org/drawingml/2006/main">
            <a:off x="3603600" y="1512000"/>
            <a:ext cx="217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E2329"/>
                </a:solidFill>
                <a:latin typeface="PingFang SC"/>
                <a:ea typeface="PingFang SC"/>
              </a:rPr>
              <a:t>Explorer</a:t>
            </a:r>
          </a:p>
        </p:txBody>
      </p:sp>
      <p:sp>
        <p:nvSpPr>
          <p:cNvPr id="100056" name="Card2Body"/>
          <p:cNvSpPr txBox="1"/>
          <p:nvPr/>
        </p:nvSpPr>
        <p:spPr>
          <a:xfrm xmlns:a="http://schemas.openxmlformats.org/drawingml/2006/main">
            <a:off x="3603600" y="1872000"/>
            <a:ext cx="217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ingFang SC"/>
                <a:ea typeface="PingFang SC"/>
              </a:rPr>
              <a:t>代码库检索、符号定位、影响范围分析</a:t>
            </a:r>
          </a:p>
        </p:txBody>
      </p:sp>
      <p:sp>
        <p:nvSpPr>
          <p:cNvPr id="100057" name="Card3"/>
          <p:cNvSpPr/>
          <p:nvPr/>
        </p:nvSpPr>
        <p:spPr>
          <a:xfrm xmlns:a="http://schemas.openxmlformats.org/drawingml/2006/main">
            <a:off x="6235200" y="1260000"/>
            <a:ext cx="2574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Card3Accent"/>
          <p:cNvSpPr/>
          <p:nvPr/>
        </p:nvSpPr>
        <p:spPr>
          <a:xfrm xmlns:a="http://schemas.openxmlformats.org/drawingml/2006/main">
            <a:off x="6235200" y="1260000"/>
            <a:ext cx="2574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9" name="Card3Title"/>
          <p:cNvSpPr txBox="1"/>
          <p:nvPr/>
        </p:nvSpPr>
        <p:spPr>
          <a:xfrm xmlns:a="http://schemas.openxmlformats.org/drawingml/2006/main">
            <a:off x="6451200" y="1512000"/>
            <a:ext cx="217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E2329"/>
                </a:solidFill>
                <a:latin typeface="PingFang SC"/>
                <a:ea typeface="PingFang SC"/>
              </a:rPr>
              <a:t>Librarian</a:t>
            </a:r>
          </a:p>
        </p:txBody>
      </p:sp>
      <p:sp>
        <p:nvSpPr>
          <p:cNvPr id="100060" name="Card3Body"/>
          <p:cNvSpPr txBox="1"/>
          <p:nvPr/>
        </p:nvSpPr>
        <p:spPr>
          <a:xfrm xmlns:a="http://schemas.openxmlformats.org/drawingml/2006/main">
            <a:off x="6451200" y="1872000"/>
            <a:ext cx="217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ingFang SC"/>
                <a:ea typeface="PingFang SC"/>
              </a:rPr>
              <a:t>外部文档、API、GitHub 与时效性事实调研</a:t>
            </a:r>
          </a:p>
        </p:txBody>
      </p:sp>
      <p:sp>
        <p:nvSpPr>
          <p:cNvPr id="100061" name="Card4"/>
          <p:cNvSpPr/>
          <p:nvPr/>
        </p:nvSpPr>
        <p:spPr>
          <a:xfrm xmlns:a="http://schemas.openxmlformats.org/drawingml/2006/main">
            <a:off x="9082800" y="1260000"/>
            <a:ext cx="2574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Card4Accent"/>
          <p:cNvSpPr/>
          <p:nvPr/>
        </p:nvSpPr>
        <p:spPr>
          <a:xfrm xmlns:a="http://schemas.openxmlformats.org/drawingml/2006/main">
            <a:off x="9082800" y="1260000"/>
            <a:ext cx="2574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Card4Title"/>
          <p:cNvSpPr txBox="1"/>
          <p:nvPr/>
        </p:nvSpPr>
        <p:spPr>
          <a:xfrm xmlns:a="http://schemas.openxmlformats.org/drawingml/2006/main">
            <a:off x="9298800" y="1512000"/>
            <a:ext cx="217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E2329"/>
                </a:solidFill>
                <a:latin typeface="PingFang SC"/>
                <a:ea typeface="PingFang SC"/>
              </a:rPr>
              <a:t>Designer</a:t>
            </a:r>
          </a:p>
        </p:txBody>
      </p:sp>
      <p:sp>
        <p:nvSpPr>
          <p:cNvPr id="100064" name="Card4Body"/>
          <p:cNvSpPr txBox="1"/>
          <p:nvPr/>
        </p:nvSpPr>
        <p:spPr>
          <a:xfrm xmlns:a="http://schemas.openxmlformats.org/drawingml/2006/main">
            <a:off x="9298800" y="1872000"/>
            <a:ext cx="217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ingFang SC"/>
                <a:ea typeface="PingFang SC"/>
              </a:rPr>
              <a:t>UI/UX、响应式布局、演示文稿与视觉打磨</a:t>
            </a:r>
          </a:p>
        </p:txBody>
      </p:sp>
      <p:sp>
        <p:nvSpPr>
          <p:cNvPr id="100065" name="Card5"/>
          <p:cNvSpPr/>
          <p:nvPr/>
        </p:nvSpPr>
        <p:spPr>
          <a:xfrm xmlns:a="http://schemas.openxmlformats.org/drawingml/2006/main">
            <a:off x="540000" y="3513600"/>
            <a:ext cx="2574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Card5Accent"/>
          <p:cNvSpPr/>
          <p:nvPr/>
        </p:nvSpPr>
        <p:spPr>
          <a:xfrm xmlns:a="http://schemas.openxmlformats.org/drawingml/2006/main">
            <a:off x="540000" y="3513600"/>
            <a:ext cx="2574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7" name="Card5Title"/>
          <p:cNvSpPr txBox="1"/>
          <p:nvPr/>
        </p:nvSpPr>
        <p:spPr>
          <a:xfrm xmlns:a="http://schemas.openxmlformats.org/drawingml/2006/main">
            <a:off x="756000" y="3765600"/>
            <a:ext cx="217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E2329"/>
                </a:solidFill>
                <a:latin typeface="PingFang SC"/>
                <a:ea typeface="PingFang SC"/>
              </a:rPr>
              <a:t>Fixer</a:t>
            </a:r>
          </a:p>
        </p:txBody>
      </p:sp>
      <p:sp>
        <p:nvSpPr>
          <p:cNvPr id="100068" name="Card5Body"/>
          <p:cNvSpPr txBox="1"/>
          <p:nvPr/>
        </p:nvSpPr>
        <p:spPr>
          <a:xfrm xmlns:a="http://schemas.openxmlformats.org/drawingml/2006/main">
            <a:off x="756000" y="4125600"/>
            <a:ext cx="217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ingFang SC"/>
                <a:ea typeface="PingFang SC"/>
              </a:rPr>
              <a:t>边界明确的代码实现、机械修复与结构化文档编辑</a:t>
            </a:r>
          </a:p>
        </p:txBody>
      </p:sp>
      <p:sp>
        <p:nvSpPr>
          <p:cNvPr id="100069" name="Card6"/>
          <p:cNvSpPr/>
          <p:nvPr/>
        </p:nvSpPr>
        <p:spPr>
          <a:xfrm xmlns:a="http://schemas.openxmlformats.org/drawingml/2006/main">
            <a:off x="3387600" y="3513600"/>
            <a:ext cx="2574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Card6Accent"/>
          <p:cNvSpPr/>
          <p:nvPr/>
        </p:nvSpPr>
        <p:spPr>
          <a:xfrm xmlns:a="http://schemas.openxmlformats.org/drawingml/2006/main">
            <a:off x="3387600" y="3513600"/>
            <a:ext cx="2574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Card6Title"/>
          <p:cNvSpPr txBox="1"/>
          <p:nvPr/>
        </p:nvSpPr>
        <p:spPr>
          <a:xfrm xmlns:a="http://schemas.openxmlformats.org/drawingml/2006/main">
            <a:off x="3603600" y="3765600"/>
            <a:ext cx="217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E2329"/>
                </a:solidFill>
                <a:latin typeface="PingFang SC"/>
                <a:ea typeface="PingFang SC"/>
              </a:rPr>
              <a:t>Observer</a:t>
            </a:r>
          </a:p>
        </p:txBody>
      </p:sp>
      <p:sp>
        <p:nvSpPr>
          <p:cNvPr id="100072" name="Card6Body"/>
          <p:cNvSpPr txBox="1"/>
          <p:nvPr/>
        </p:nvSpPr>
        <p:spPr>
          <a:xfrm xmlns:a="http://schemas.openxmlformats.org/drawingml/2006/main">
            <a:off x="3603600" y="4125600"/>
            <a:ext cx="217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ingFang SC"/>
                <a:ea typeface="PingFang SC"/>
              </a:rPr>
              <a:t>分析图片、截图、PDF 与图表，返回结构化观察</a:t>
            </a:r>
          </a:p>
        </p:txBody>
      </p:sp>
      <p:sp>
        <p:nvSpPr>
          <p:cNvPr id="100073" name="Card7"/>
          <p:cNvSpPr/>
          <p:nvPr/>
        </p:nvSpPr>
        <p:spPr>
          <a:xfrm xmlns:a="http://schemas.openxmlformats.org/drawingml/2006/main">
            <a:off x="6235200" y="3513600"/>
            <a:ext cx="2574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4" name="Card7Accent"/>
          <p:cNvSpPr/>
          <p:nvPr/>
        </p:nvSpPr>
        <p:spPr>
          <a:xfrm xmlns:a="http://schemas.openxmlformats.org/drawingml/2006/main">
            <a:off x="6235200" y="3513600"/>
            <a:ext cx="2574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Card7Title"/>
          <p:cNvSpPr txBox="1"/>
          <p:nvPr/>
        </p:nvSpPr>
        <p:spPr>
          <a:xfrm xmlns:a="http://schemas.openxmlformats.org/drawingml/2006/main">
            <a:off x="6451200" y="3765600"/>
            <a:ext cx="217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E2329"/>
                </a:solidFill>
                <a:latin typeface="PingFang SC"/>
                <a:ea typeface="PingFang SC"/>
              </a:rPr>
              <a:t>Oracle</a:t>
            </a:r>
          </a:p>
        </p:txBody>
      </p:sp>
      <p:sp>
        <p:nvSpPr>
          <p:cNvPr id="100076" name="Card7Body"/>
          <p:cNvSpPr txBox="1"/>
          <p:nvPr/>
        </p:nvSpPr>
        <p:spPr>
          <a:xfrm xmlns:a="http://schemas.openxmlformats.org/drawingml/2006/main">
            <a:off x="6451200" y="4125600"/>
            <a:ext cx="217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ingFang SC"/>
                <a:ea typeface="PingFang SC"/>
              </a:rPr>
              <a:t>高风险架构决策、复杂调试与性能权衡</a:t>
            </a:r>
          </a:p>
        </p:txBody>
      </p:sp>
      <p:sp>
        <p:nvSpPr>
          <p:cNvPr id="100077" name="Card8"/>
          <p:cNvSpPr/>
          <p:nvPr/>
        </p:nvSpPr>
        <p:spPr>
          <a:xfrm xmlns:a="http://schemas.openxmlformats.org/drawingml/2006/main">
            <a:off x="9082800" y="3513600"/>
            <a:ext cx="2574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Card8Accent"/>
          <p:cNvSpPr/>
          <p:nvPr/>
        </p:nvSpPr>
        <p:spPr>
          <a:xfrm xmlns:a="http://schemas.openxmlformats.org/drawingml/2006/main">
            <a:off x="9082800" y="3513600"/>
            <a:ext cx="2574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9" name="Card8Title"/>
          <p:cNvSpPr txBox="1"/>
          <p:nvPr/>
        </p:nvSpPr>
        <p:spPr>
          <a:xfrm xmlns:a="http://schemas.openxmlformats.org/drawingml/2006/main">
            <a:off x="9298800" y="3765600"/>
            <a:ext cx="217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E2329"/>
                </a:solidFill>
                <a:latin typeface="PingFang SC"/>
                <a:ea typeface="PingFang SC"/>
              </a:rPr>
              <a:t>Fast-Generic</a:t>
            </a:r>
          </a:p>
        </p:txBody>
      </p:sp>
      <p:sp>
        <p:nvSpPr>
          <p:cNvPr id="100080" name="Card8Body"/>
          <p:cNvSpPr txBox="1"/>
          <p:nvPr/>
        </p:nvSpPr>
        <p:spPr>
          <a:xfrm xmlns:a="http://schemas.openxmlformats.org/drawingml/2006/main">
            <a:off x="9298800" y="4125600"/>
            <a:ext cx="217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ingFang SC"/>
                <a:ea typeface="PingFang SC"/>
              </a:rPr>
              <a:t>Git 状态、Lint、Typecheck、测试与构建等机械命令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/>
      <p:sp>
        <p:nvSpPr>
          <p:cNvPr id="100081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06 / 12</a:t>
            </a:r>
          </a:p>
        </p:txBody>
      </p:sp>
      <p:sp>
        <p:nvSpPr>
          <p:cNvPr id="100082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329"/>
                </a:solidFill>
                <a:latin typeface="PingFang SC"/>
                <a:ea typeface="PingFang SC"/>
              </a:rPr>
              <a:t>路由规则：如何决定谁做事</a:t>
            </a:r>
          </a:p>
        </p:txBody>
      </p:sp>
      <p:sp>
        <p:nvSpPr>
          <p:cNvPr id="100083" name="Row1Bg"/>
          <p:cNvSpPr/>
          <p:nvPr/>
        </p:nvSpPr>
        <p:spPr>
          <a:xfrm xmlns:a="http://schemas.openxmlformats.org/drawingml/2006/main">
            <a:off x="540000" y="1260000"/>
            <a:ext cx="111132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Row1Task"/>
          <p:cNvSpPr txBox="1"/>
          <p:nvPr/>
        </p:nvSpPr>
        <p:spPr>
          <a:xfrm xmlns:a="http://schemas.openxmlformats.org/drawingml/2006/main">
            <a:off x="720000" y="1296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1E2329"/>
                </a:solidFill>
                <a:latin typeface="PingFang SC"/>
                <a:ea typeface="PingFang SC"/>
              </a:rPr>
              <a:t>外部项目、库文档、API、时效性事实</a:t>
            </a:r>
          </a:p>
        </p:txBody>
      </p:sp>
      <p:sp>
        <p:nvSpPr>
          <p:cNvPr id="100085" name="Row1AgentBg"/>
          <p:cNvSpPr/>
          <p:nvPr/>
        </p:nvSpPr>
        <p:spPr>
          <a:xfrm xmlns:a="http://schemas.openxmlformats.org/drawingml/2006/main">
            <a:off x="9720000" y="1296000"/>
            <a:ext cx="16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Row1Agent"/>
          <p:cNvSpPr txBox="1"/>
          <p:nvPr/>
        </p:nvSpPr>
        <p:spPr>
          <a:xfrm xmlns:a="http://schemas.openxmlformats.org/drawingml/2006/main">
            <a:off x="9720000" y="1296000"/>
            <a:ext cx="16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PingFang SC"/>
                <a:ea typeface="PingFang SC"/>
              </a:rPr>
              <a:t>Librarian</a:t>
            </a:r>
          </a:p>
        </p:txBody>
      </p:sp>
      <p:sp>
        <p:nvSpPr>
          <p:cNvPr id="100087" name="Row2Task"/>
          <p:cNvSpPr txBox="1"/>
          <p:nvPr/>
        </p:nvSpPr>
        <p:spPr>
          <a:xfrm xmlns:a="http://schemas.openxmlformats.org/drawingml/2006/main">
            <a:off x="720000" y="1800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1E2329"/>
                </a:solidFill>
                <a:latin typeface="PingFang SC"/>
                <a:ea typeface="PingFang SC"/>
              </a:rPr>
              <a:t>范围不明确的代码检索、调用链、影响范围分析</a:t>
            </a:r>
          </a:p>
        </p:txBody>
      </p:sp>
      <p:sp>
        <p:nvSpPr>
          <p:cNvPr id="100088" name="Row2AgentBg"/>
          <p:cNvSpPr/>
          <p:nvPr/>
        </p:nvSpPr>
        <p:spPr>
          <a:xfrm xmlns:a="http://schemas.openxmlformats.org/drawingml/2006/main">
            <a:off x="9720000" y="1800000"/>
            <a:ext cx="1620000" cy="396000"/>
          </a:xfrm>
          <a:prstGeom xmlns:a="http://schemas.openxmlformats.org/drawingml/2006/main" prst="rect">
            <a:avLst/>
          </a:prstGeom>
          <a:solidFill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9" name="Row2Agent"/>
          <p:cNvSpPr txBox="1"/>
          <p:nvPr/>
        </p:nvSpPr>
        <p:spPr>
          <a:xfrm xmlns:a="http://schemas.openxmlformats.org/drawingml/2006/main">
            <a:off x="9720000" y="1800000"/>
            <a:ext cx="16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PingFang SC"/>
                <a:ea typeface="PingFang SC"/>
              </a:rPr>
              <a:t>Explorer</a:t>
            </a:r>
          </a:p>
        </p:txBody>
      </p:sp>
      <p:sp>
        <p:nvSpPr>
          <p:cNvPr id="100090" name="Row3Bg"/>
          <p:cNvSpPr/>
          <p:nvPr/>
        </p:nvSpPr>
        <p:spPr>
          <a:xfrm xmlns:a="http://schemas.openxmlformats.org/drawingml/2006/main">
            <a:off x="540000" y="2304000"/>
            <a:ext cx="111132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1" name="Row3Task"/>
          <p:cNvSpPr txBox="1"/>
          <p:nvPr/>
        </p:nvSpPr>
        <p:spPr>
          <a:xfrm xmlns:a="http://schemas.openxmlformats.org/drawingml/2006/main">
            <a:off x="720000" y="2340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1E2329"/>
                </a:solidFill>
                <a:latin typeface="PingFang SC"/>
                <a:ea typeface="PingFang SC"/>
              </a:rPr>
              <a:t>图片、截图、PDF、图表分析</a:t>
            </a:r>
          </a:p>
        </p:txBody>
      </p:sp>
      <p:sp>
        <p:nvSpPr>
          <p:cNvPr id="100092" name="Row3AgentBg"/>
          <p:cNvSpPr/>
          <p:nvPr/>
        </p:nvSpPr>
        <p:spPr>
          <a:xfrm xmlns:a="http://schemas.openxmlformats.org/drawingml/2006/main">
            <a:off x="9720000" y="2340000"/>
            <a:ext cx="1620000" cy="396000"/>
          </a:xfrm>
          <a:prstGeom xmlns:a="http://schemas.openxmlformats.org/drawingml/2006/main" prst="rect">
            <a:avLst/>
          </a:prstGeom>
          <a:solidFill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Row3Agent"/>
          <p:cNvSpPr txBox="1"/>
          <p:nvPr/>
        </p:nvSpPr>
        <p:spPr>
          <a:xfrm xmlns:a="http://schemas.openxmlformats.org/drawingml/2006/main">
            <a:off x="9720000" y="2340000"/>
            <a:ext cx="16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PingFang SC"/>
                <a:ea typeface="PingFang SC"/>
              </a:rPr>
              <a:t>Observer</a:t>
            </a:r>
          </a:p>
        </p:txBody>
      </p:sp>
      <p:sp>
        <p:nvSpPr>
          <p:cNvPr id="100094" name="Row4Task"/>
          <p:cNvSpPr txBox="1"/>
          <p:nvPr/>
        </p:nvSpPr>
        <p:spPr>
          <a:xfrm xmlns:a="http://schemas.openxmlformats.org/drawingml/2006/main">
            <a:off x="720000" y="2844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1E2329"/>
                </a:solidFill>
                <a:latin typeface="PingFang SC"/>
                <a:ea typeface="PingFang SC"/>
              </a:rPr>
              <a:t>Office 文档内容、数据、结构化编辑</a:t>
            </a:r>
          </a:p>
        </p:txBody>
      </p:sp>
      <p:sp>
        <p:nvSpPr>
          <p:cNvPr id="100095" name="Row4AgentBg"/>
          <p:cNvSpPr/>
          <p:nvPr/>
        </p:nvSpPr>
        <p:spPr>
          <a:xfrm xmlns:a="http://schemas.openxmlformats.org/drawingml/2006/main">
            <a:off x="9720000" y="2844000"/>
            <a:ext cx="16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6" name="Row4Agent"/>
          <p:cNvSpPr txBox="1"/>
          <p:nvPr/>
        </p:nvSpPr>
        <p:spPr>
          <a:xfrm xmlns:a="http://schemas.openxmlformats.org/drawingml/2006/main">
            <a:off x="9720000" y="2844000"/>
            <a:ext cx="16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PingFang SC"/>
                <a:ea typeface="PingFang SC"/>
              </a:rPr>
              <a:t>Fixer</a:t>
            </a:r>
          </a:p>
        </p:txBody>
      </p:sp>
      <p:sp>
        <p:nvSpPr>
          <p:cNvPr id="100097" name="Row5Bg"/>
          <p:cNvSpPr/>
          <p:nvPr/>
        </p:nvSpPr>
        <p:spPr>
          <a:xfrm xmlns:a="http://schemas.openxmlformats.org/drawingml/2006/main">
            <a:off x="540000" y="3348000"/>
            <a:ext cx="111132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8" name="Row5Task"/>
          <p:cNvSpPr txBox="1"/>
          <p:nvPr/>
        </p:nvSpPr>
        <p:spPr>
          <a:xfrm xmlns:a="http://schemas.openxmlformats.org/drawingml/2006/main">
            <a:off x="720000" y="3384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1E2329"/>
                </a:solidFill>
                <a:latin typeface="PingFang SC"/>
                <a:ea typeface="PingFang SC"/>
              </a:rPr>
              <a:t>UI/UX、响应式布局、演示文稿视觉设计</a:t>
            </a:r>
          </a:p>
        </p:txBody>
      </p:sp>
      <p:sp>
        <p:nvSpPr>
          <p:cNvPr id="100099" name="Row5AgentBg"/>
          <p:cNvSpPr/>
          <p:nvPr/>
        </p:nvSpPr>
        <p:spPr>
          <a:xfrm xmlns:a="http://schemas.openxmlformats.org/drawingml/2006/main">
            <a:off x="9720000" y="3384000"/>
            <a:ext cx="16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Row5Agent"/>
          <p:cNvSpPr txBox="1"/>
          <p:nvPr/>
        </p:nvSpPr>
        <p:spPr>
          <a:xfrm xmlns:a="http://schemas.openxmlformats.org/drawingml/2006/main">
            <a:off x="9720000" y="3384000"/>
            <a:ext cx="16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PingFang SC"/>
                <a:ea typeface="PingFang SC"/>
              </a:rPr>
              <a:t>Designer</a:t>
            </a:r>
          </a:p>
        </p:txBody>
      </p:sp>
      <p:sp>
        <p:nvSpPr>
          <p:cNvPr id="100101" name="Row6Task"/>
          <p:cNvSpPr txBox="1"/>
          <p:nvPr/>
        </p:nvSpPr>
        <p:spPr>
          <a:xfrm xmlns:a="http://schemas.openxmlformats.org/drawingml/2006/main">
            <a:off x="720000" y="3888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1E2329"/>
                </a:solidFill>
                <a:latin typeface="PingFang SC"/>
                <a:ea typeface="PingFang SC"/>
              </a:rPr>
              <a:t>多文件机械实现或单文件预计改动 &gt;20 行</a:t>
            </a:r>
          </a:p>
        </p:txBody>
      </p:sp>
      <p:sp>
        <p:nvSpPr>
          <p:cNvPr id="100102" name="Row6AgentBg"/>
          <p:cNvSpPr/>
          <p:nvPr/>
        </p:nvSpPr>
        <p:spPr>
          <a:xfrm xmlns:a="http://schemas.openxmlformats.org/drawingml/2006/main">
            <a:off x="9720000" y="3888000"/>
            <a:ext cx="16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3" name="Row6Agent"/>
          <p:cNvSpPr txBox="1"/>
          <p:nvPr/>
        </p:nvSpPr>
        <p:spPr>
          <a:xfrm xmlns:a="http://schemas.openxmlformats.org/drawingml/2006/main">
            <a:off x="9720000" y="3888000"/>
            <a:ext cx="16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PingFang SC"/>
                <a:ea typeface="PingFang SC"/>
              </a:rPr>
              <a:t>Fixer</a:t>
            </a:r>
          </a:p>
        </p:txBody>
      </p:sp>
      <p:sp>
        <p:nvSpPr>
          <p:cNvPr id="100104" name="Row7Bg"/>
          <p:cNvSpPr/>
          <p:nvPr/>
        </p:nvSpPr>
        <p:spPr>
          <a:xfrm xmlns:a="http://schemas.openxmlformats.org/drawingml/2006/main">
            <a:off x="540000" y="4392000"/>
            <a:ext cx="111132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5" name="Row7Task"/>
          <p:cNvSpPr txBox="1"/>
          <p:nvPr/>
        </p:nvSpPr>
        <p:spPr>
          <a:xfrm xmlns:a="http://schemas.openxmlformats.org/drawingml/2006/main">
            <a:off x="720000" y="4428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1E2329"/>
                </a:solidFill>
                <a:latin typeface="PingFang SC"/>
                <a:ea typeface="PingFang SC"/>
              </a:rPr>
              <a:t>高风险架构决策、技术方案选型、性能分析</a:t>
            </a:r>
          </a:p>
        </p:txBody>
      </p:sp>
      <p:sp>
        <p:nvSpPr>
          <p:cNvPr id="100106" name="Row7AgentBg"/>
          <p:cNvSpPr/>
          <p:nvPr/>
        </p:nvSpPr>
        <p:spPr>
          <a:xfrm xmlns:a="http://schemas.openxmlformats.org/drawingml/2006/main">
            <a:off x="9720000" y="4428000"/>
            <a:ext cx="1620000" cy="396000"/>
          </a:xfrm>
          <a:prstGeom xmlns:a="http://schemas.openxmlformats.org/drawingml/2006/main" prst="rect">
            <a:avLst/>
          </a:prstGeom>
          <a:solidFill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7" name="Row7Agent"/>
          <p:cNvSpPr txBox="1"/>
          <p:nvPr/>
        </p:nvSpPr>
        <p:spPr>
          <a:xfrm xmlns:a="http://schemas.openxmlformats.org/drawingml/2006/main">
            <a:off x="9720000" y="4428000"/>
            <a:ext cx="16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PingFang SC"/>
                <a:ea typeface="PingFang SC"/>
              </a:rPr>
              <a:t>Oracle</a:t>
            </a:r>
          </a:p>
        </p:txBody>
      </p:sp>
      <p:sp>
        <p:nvSpPr>
          <p:cNvPr id="100108" name="Row8Task"/>
          <p:cNvSpPr txBox="1"/>
          <p:nvPr/>
        </p:nvSpPr>
        <p:spPr>
          <a:xfrm xmlns:a="http://schemas.openxmlformats.org/drawingml/2006/main">
            <a:off x="720000" y="4932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1E2329"/>
                </a:solidFill>
                <a:latin typeface="PingFang SC"/>
                <a:ea typeface="PingFang SC"/>
              </a:rPr>
              <a:t>不在上述范围的任务</a:t>
            </a:r>
          </a:p>
        </p:txBody>
      </p:sp>
      <p:sp>
        <p:nvSpPr>
          <p:cNvPr id="100109" name="Row8AgentBg"/>
          <p:cNvSpPr/>
          <p:nvPr/>
        </p:nvSpPr>
        <p:spPr>
          <a:xfrm xmlns:a="http://schemas.openxmlformats.org/drawingml/2006/main">
            <a:off x="9720000" y="4932000"/>
            <a:ext cx="1620000" cy="396000"/>
          </a:xfrm>
          <a:prstGeom xmlns:a="http://schemas.openxmlformats.org/drawingml/2006/main" prst="rect">
            <a:avLst/>
          </a:prstGeom>
          <a:solidFill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0" name="Row8Agent"/>
          <p:cNvSpPr txBox="1"/>
          <p:nvPr/>
        </p:nvSpPr>
        <p:spPr>
          <a:xfrm xmlns:a="http://schemas.openxmlformats.org/drawingml/2006/main">
            <a:off x="9720000" y="4932000"/>
            <a:ext cx="16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PingFang SC"/>
                <a:ea typeface="PingFang SC"/>
              </a:rPr>
              <a:t>Orchestrator</a:t>
            </a:r>
          </a:p>
        </p:txBody>
      </p:sp>
      <p:sp>
        <p:nvSpPr>
          <p:cNvPr id="100111" name="Caption"/>
          <p:cNvSpPr txBox="1"/>
          <p:nvPr/>
        </p:nvSpPr>
        <p:spPr>
          <a:xfrm xmlns:a="http://schemas.openxmlformats.org/drawingml/2006/main">
            <a:off x="540000" y="5580000"/>
            <a:ext cx="1111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7A8590"/>
                </a:solidFill>
                <a:latin typeface="PingFang SC"/>
                <a:ea typeface="PingFang SC"/>
              </a:rPr>
              <a:t>来源：AGENTS.md 路由表。规则用于约束 Orchestrator，避免绕过委派流程自行包办。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/>
      <p:sp>
        <p:nvSpPr>
          <p:cNvPr id="100112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07 / 12</a:t>
            </a:r>
          </a:p>
        </p:txBody>
      </p:sp>
      <p:sp>
        <p:nvSpPr>
          <p:cNvPr id="100113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329"/>
                </a:solidFill>
                <a:latin typeface="PingFang SC"/>
                <a:ea typeface="PingFang SC"/>
              </a:rPr>
              <a:t>实际场景：跨文件 Bug 修复</a:t>
            </a:r>
          </a:p>
        </p:txBody>
      </p:sp>
      <p:sp>
        <p:nvSpPr>
          <p:cNvPr id="100114" name="TimelineLine"/>
          <p:cNvSpPr/>
          <p:nvPr/>
        </p:nvSpPr>
        <p:spPr>
          <a:xfrm xmlns:a="http://schemas.openxmlformats.org/drawingml/2006/main">
            <a:off x="1260000" y="1368000"/>
            <a:ext cx="36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5" name="Step1Circle"/>
          <p:cNvSpPr/>
          <p:nvPr/>
        </p:nvSpPr>
        <p:spPr>
          <a:xfrm xmlns:a="http://schemas.openxmlformats.org/drawingml/2006/main">
            <a:off x="1098000" y="1350000"/>
            <a:ext cx="360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0116" name="Step1Text"/>
          <p:cNvSpPr txBox="1"/>
          <p:nvPr/>
        </p:nvSpPr>
        <p:spPr>
          <a:xfrm xmlns:a="http://schemas.openxmlformats.org/drawingml/2006/main">
            <a:off x="1728000" y="1368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用户描述复现步骤与错误表现</a:t>
            </a:r>
          </a:p>
        </p:txBody>
      </p:sp>
      <p:sp>
        <p:nvSpPr>
          <p:cNvPr id="100117" name="Step2Circle"/>
          <p:cNvSpPr/>
          <p:nvPr/>
        </p:nvSpPr>
        <p:spPr>
          <a:xfrm xmlns:a="http://schemas.openxmlformats.org/drawingml/2006/main">
            <a:off x="1098000" y="1998000"/>
            <a:ext cx="360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E8E8E8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00118" name="Step2Text"/>
          <p:cNvSpPr txBox="1"/>
          <p:nvPr/>
        </p:nvSpPr>
        <p:spPr>
          <a:xfrm xmlns:a="http://schemas.openxmlformats.org/drawingml/2006/main">
            <a:off x="1728000" y="2016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Orchestrator 拆解任务并规划</a:t>
            </a:r>
          </a:p>
        </p:txBody>
      </p:sp>
      <p:sp>
        <p:nvSpPr>
          <p:cNvPr id="100119" name="Step3Circle"/>
          <p:cNvSpPr/>
          <p:nvPr/>
        </p:nvSpPr>
        <p:spPr>
          <a:xfrm xmlns:a="http://schemas.openxmlformats.org/drawingml/2006/main">
            <a:off x="1098000" y="2646000"/>
            <a:ext cx="360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00120" name="Step3Text"/>
          <p:cNvSpPr txBox="1"/>
          <p:nvPr/>
        </p:nvSpPr>
        <p:spPr>
          <a:xfrm xmlns:a="http://schemas.openxmlformats.org/drawingml/2006/main">
            <a:off x="1728000" y="2664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Explorer 定位相关文件、符号、调用链</a:t>
            </a:r>
          </a:p>
        </p:txBody>
      </p:sp>
      <p:sp>
        <p:nvSpPr>
          <p:cNvPr id="100121" name="Step4Circle"/>
          <p:cNvSpPr/>
          <p:nvPr/>
        </p:nvSpPr>
        <p:spPr>
          <a:xfrm xmlns:a="http://schemas.openxmlformats.org/drawingml/2006/main">
            <a:off x="1098000" y="3294000"/>
            <a:ext cx="360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E8E8E8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00122" name="Step4Text"/>
          <p:cNvSpPr txBox="1"/>
          <p:nvPr/>
        </p:nvSpPr>
        <p:spPr>
          <a:xfrm xmlns:a="http://schemas.openxmlformats.org/drawingml/2006/main">
            <a:off x="1728000" y="331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Librarian 查上游 issue 或文档（如需要）</a:t>
            </a:r>
          </a:p>
        </p:txBody>
      </p:sp>
      <p:sp>
        <p:nvSpPr>
          <p:cNvPr id="100123" name="Step5Circle"/>
          <p:cNvSpPr/>
          <p:nvPr/>
        </p:nvSpPr>
        <p:spPr>
          <a:xfrm xmlns:a="http://schemas.openxmlformats.org/drawingml/2006/main">
            <a:off x="1098000" y="3942000"/>
            <a:ext cx="360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100124" name="Step5Text"/>
          <p:cNvSpPr txBox="1"/>
          <p:nvPr/>
        </p:nvSpPr>
        <p:spPr>
          <a:xfrm xmlns:a="http://schemas.openxmlformats.org/drawingml/2006/main">
            <a:off x="1728000" y="3960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Fixer 实现修复</a:t>
            </a:r>
          </a:p>
        </p:txBody>
      </p:sp>
      <p:sp>
        <p:nvSpPr>
          <p:cNvPr id="100125" name="Step6Circle"/>
          <p:cNvSpPr/>
          <p:nvPr/>
        </p:nvSpPr>
        <p:spPr>
          <a:xfrm xmlns:a="http://schemas.openxmlformats.org/drawingml/2006/main">
            <a:off x="1098000" y="4590000"/>
            <a:ext cx="360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E8E8E8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100126" name="Step6Text"/>
          <p:cNvSpPr txBox="1"/>
          <p:nvPr/>
        </p:nvSpPr>
        <p:spPr>
          <a:xfrm xmlns:a="http://schemas.openxmlformats.org/drawingml/2006/main">
            <a:off x="1728000" y="4608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Fast-Generic 运行最小测试或 lint</a:t>
            </a:r>
          </a:p>
        </p:txBody>
      </p:sp>
      <p:sp>
        <p:nvSpPr>
          <p:cNvPr id="100127" name="Step7Circle"/>
          <p:cNvSpPr/>
          <p:nvPr/>
        </p:nvSpPr>
        <p:spPr>
          <a:xfrm xmlns:a="http://schemas.openxmlformats.org/drawingml/2006/main">
            <a:off x="1098000" y="5238000"/>
            <a:ext cx="360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100128" name="Step7Text"/>
          <p:cNvSpPr txBox="1"/>
          <p:nvPr/>
        </p:nvSpPr>
        <p:spPr>
          <a:xfrm xmlns:a="http://schemas.openxmlformats.org/drawingml/2006/main">
            <a:off x="1728000" y="5256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Orchestrator 汇总结果并确认修复范围</a:t>
            </a:r>
          </a:p>
        </p:txBody>
      </p:sp>
      <p:sp>
        <p:nvSpPr>
          <p:cNvPr id="100129" name="Caption"/>
          <p:cNvSpPr txBox="1"/>
          <p:nvPr/>
        </p:nvSpPr>
        <p:spPr>
          <a:xfrm xmlns:a="http://schemas.openxmlformats.org/drawingml/2006/main">
            <a:off x="540000" y="5940000"/>
            <a:ext cx="1111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7A8590"/>
                </a:solidFill>
                <a:latin typeface="PingFang SC"/>
                <a:ea typeface="PingFang SC"/>
              </a:rPr>
              <a:t>来源：docs/workflows.md 示例。实际流程可根据任务范围裁剪。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/>
      <p:sp>
        <p:nvSpPr>
          <p:cNvPr id="100130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08 / 12</a:t>
            </a:r>
          </a:p>
        </p:txBody>
      </p:sp>
      <p:sp>
        <p:nvSpPr>
          <p:cNvPr id="100131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329"/>
                </a:solidFill>
                <a:latin typeface="PingFang SC"/>
                <a:ea typeface="PingFang SC"/>
              </a:rPr>
              <a:t>实际场景：UI 改造与外部库调研</a:t>
            </a:r>
          </a:p>
        </p:txBody>
      </p:sp>
      <p:sp>
        <p:nvSpPr>
          <p:cNvPr id="100132" name="LeftHeader"/>
          <p:cNvSpPr txBox="1"/>
          <p:nvPr/>
        </p:nvSpPr>
        <p:spPr>
          <a:xfrm xmlns:a="http://schemas.openxmlformats.org/drawingml/2006/main">
            <a:off x="540000" y="1260000"/>
            <a:ext cx="52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00A9A5"/>
                </a:solidFill>
                <a:latin typeface="PingFang SC"/>
                <a:ea typeface="PingFang SC"/>
              </a:rPr>
              <a:t>UI / UX 改造</a:t>
            </a:r>
          </a:p>
        </p:txBody>
      </p:sp>
      <p:sp>
        <p:nvSpPr>
          <p:cNvPr id="100133" name="LeftBody1"/>
          <p:cNvSpPr txBox="1"/>
          <p:nvPr/>
        </p:nvSpPr>
        <p:spPr>
          <a:xfrm xmlns:a="http://schemas.openxmlformats.org/drawingml/2006/main">
            <a:off x="540000" y="1692000"/>
            <a:ext cx="5220000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Designer 负责视觉层级、响应式布局与交互细节</a:t>
            </a:r>
          </a:p>
        </p:txBody>
      </p:sp>
      <p:sp>
        <p:nvSpPr>
          <p:cNvPr id="100134" name="LeftBody2"/>
          <p:cNvSpPr txBox="1"/>
          <p:nvPr/>
        </p:nvSpPr>
        <p:spPr>
          <a:xfrm xmlns:a="http://schemas.openxmlformats.org/drawingml/2006/main">
            <a:off x="540000" y="2322000"/>
            <a:ext cx="5220000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需要代码改动时，Designer 给出方案，Fixer 实施</a:t>
            </a:r>
          </a:p>
        </p:txBody>
      </p:sp>
      <p:sp>
        <p:nvSpPr>
          <p:cNvPr id="100135" name="LeftBody3"/>
          <p:cNvSpPr txBox="1"/>
          <p:nvPr/>
        </p:nvSpPr>
        <p:spPr>
          <a:xfrm xmlns:a="http://schemas.openxmlformats.org/drawingml/2006/main">
            <a:off x="540000" y="2934000"/>
            <a:ext cx="5220000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构建或预览验证后由 Orchestrator 统一交付</a:t>
            </a:r>
          </a:p>
        </p:txBody>
      </p:sp>
      <p:sp>
        <p:nvSpPr>
          <p:cNvPr id="100136" name="RightHeader"/>
          <p:cNvSpPr txBox="1"/>
          <p:nvPr/>
        </p:nvSpPr>
        <p:spPr>
          <a:xfrm xmlns:a="http://schemas.openxmlformats.org/drawingml/2006/main">
            <a:off x="6433200" y="1260000"/>
            <a:ext cx="52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00A9A5"/>
                </a:solidFill>
                <a:latin typeface="PingFang SC"/>
                <a:ea typeface="PingFang SC"/>
              </a:rPr>
              <a:t>外部库 / API 调研</a:t>
            </a:r>
          </a:p>
        </p:txBody>
      </p:sp>
      <p:sp>
        <p:nvSpPr>
          <p:cNvPr id="100137" name="RightBody1"/>
          <p:cNvSpPr txBox="1"/>
          <p:nvPr/>
        </p:nvSpPr>
        <p:spPr>
          <a:xfrm xmlns:a="http://schemas.openxmlformats.org/drawingml/2006/main">
            <a:off x="6433200" y="1692000"/>
            <a:ext cx="5220000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Librarian 查官方文档、GitHub 与最新 release note</a:t>
            </a:r>
          </a:p>
        </p:txBody>
      </p:sp>
      <p:sp>
        <p:nvSpPr>
          <p:cNvPr id="100138" name="RightBody2"/>
          <p:cNvSpPr txBox="1"/>
          <p:nvPr/>
        </p:nvSpPr>
        <p:spPr>
          <a:xfrm xmlns:a="http://schemas.openxmlformats.org/drawingml/2006/main">
            <a:off x="6433200" y="2340000"/>
            <a:ext cx="52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Explorer 检索本地引用点与依赖关系</a:t>
            </a:r>
          </a:p>
        </p:txBody>
      </p:sp>
      <p:sp>
        <p:nvSpPr>
          <p:cNvPr id="100139" name="RightBody3"/>
          <p:cNvSpPr txBox="1"/>
          <p:nvPr/>
        </p:nvSpPr>
        <p:spPr>
          <a:xfrm xmlns:a="http://schemas.openxmlformats.org/drawingml/2006/main">
            <a:off x="6433200" y="2934000"/>
            <a:ext cx="5220000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Fixer 实施最小集成，Oracle 仅在高风险架构时升级</a:t>
            </a:r>
          </a:p>
        </p:txBody>
      </p:sp>
      <p:pic>
        <p:nvPicPr>
          <p:cNvPr id="100140" name="Picture 1" descr="OpenCode 界面示例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f6b5c3cfd4d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40000" y="3708000"/>
            <a:ext cx="5220000" cy="1872000"/>
          </a:xfrm>
          <a:prstGeom xmlns:a="http://schemas.openxmlformats.org/drawingml/2006/main" prst="rect">
            <a:avLst/>
          </a:prstGeom>
        </p:spPr>
      </p:pic>
      <p:sp>
        <p:nvSpPr>
          <p:cNvPr id="100141" name="ScreenshotCaption"/>
          <p:cNvSpPr txBox="1"/>
          <p:nvPr/>
        </p:nvSpPr>
        <p:spPr>
          <a:xfrm xmlns:a="http://schemas.openxmlformats.org/drawingml/2006/main">
            <a:off x="540000" y="5652000"/>
            <a:ext cx="522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界面示例：OpenCode 运行截图，仅展示界面形态，不作为模型或环境兼容性的承诺。</a:t>
            </a:r>
          </a:p>
        </p:txBody>
      </p:sp>
      <p:sp>
        <p:nvSpPr>
          <p:cNvPr id="100142" name="Caption"/>
          <p:cNvSpPr txBox="1"/>
          <p:nvPr/>
        </p:nvSpPr>
        <p:spPr>
          <a:xfrm xmlns:a="http://schemas.openxmlformats.org/drawingml/2006/main">
            <a:off x="540000" y="6120000"/>
            <a:ext cx="1111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7A8590"/>
                </a:solidFill>
                <a:latin typeface="PingFang SC"/>
                <a:ea typeface="PingFang SC"/>
              </a:rPr>
              <a:t>来源：docs/workflows.md 示例。复杂任务常需同时调动视觉、外部研究与代码实现角色。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/>
      <p:sp>
        <p:nvSpPr>
          <p:cNvPr id="100143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09 / 12</a:t>
            </a:r>
          </a:p>
        </p:txBody>
      </p:sp>
      <p:sp>
        <p:nvSpPr>
          <p:cNvPr id="100144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329"/>
                </a:solidFill>
                <a:latin typeface="PingFang SC"/>
                <a:ea typeface="PingFang SC"/>
              </a:rPr>
              <a:t>诚实边界：适用场景与限制</a:t>
            </a:r>
          </a:p>
        </p:txBody>
      </p:sp>
      <p:sp>
        <p:nvSpPr>
          <p:cNvPr id="100145" name="LeftCard"/>
          <p:cNvSpPr/>
          <p:nvPr/>
        </p:nvSpPr>
        <p:spPr>
          <a:xfrm xmlns:a="http://schemas.openxmlformats.org/drawingml/2006/main">
            <a:off x="540000" y="1260000"/>
            <a:ext cx="52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6" name="LeftCardHeader"/>
          <p:cNvSpPr/>
          <p:nvPr/>
        </p:nvSpPr>
        <p:spPr>
          <a:xfrm xmlns:a="http://schemas.openxmlformats.org/drawingml/2006/main">
            <a:off x="540000" y="1260000"/>
            <a:ext cx="52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适合</a:t>
            </a:r>
          </a:p>
        </p:txBody>
      </p:sp>
      <p:sp>
        <p:nvSpPr>
          <p:cNvPr id="100147" name="LeftBullet1"/>
          <p:cNvSpPr txBox="1"/>
          <p:nvPr/>
        </p:nvSpPr>
        <p:spPr>
          <a:xfrm xmlns:a="http://schemas.openxmlformats.org/drawingml/2006/main">
            <a:off x="900000" y="1980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跨文件、多阶段、需要外部调研或视觉设计的复杂任务</a:t>
            </a:r>
          </a:p>
        </p:txBody>
      </p:sp>
      <p:sp>
        <p:nvSpPr>
          <p:cNvPr id="100148" name="LeftBullet2"/>
          <p:cNvSpPr txBox="1"/>
          <p:nvPr/>
        </p:nvSpPr>
        <p:spPr>
          <a:xfrm xmlns:a="http://schemas.openxmlformats.org/drawingml/2006/main">
            <a:off x="900000" y="2592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愿意手动调整模型、Provider 与 MCP 的用户</a:t>
            </a:r>
          </a:p>
        </p:txBody>
      </p:sp>
      <p:sp>
        <p:nvSpPr>
          <p:cNvPr id="100149" name="LeftBullet3"/>
          <p:cNvSpPr txBox="1"/>
          <p:nvPr/>
        </p:nvSpPr>
        <p:spPr>
          <a:xfrm xmlns:a="http://schemas.openxmlformats.org/drawingml/2006/main">
            <a:off x="900000" y="3204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希望借助 Orchestrator 分工控制主会话上下文</a:t>
            </a:r>
          </a:p>
        </p:txBody>
      </p:sp>
      <p:sp>
        <p:nvSpPr>
          <p:cNvPr id="100150" name="RightCard"/>
          <p:cNvSpPr/>
          <p:nvPr/>
        </p:nvSpPr>
        <p:spPr>
          <a:xfrm xmlns:a="http://schemas.openxmlformats.org/drawingml/2006/main">
            <a:off x="6433200" y="1260000"/>
            <a:ext cx="52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1" name="RightCardHeader"/>
          <p:cNvSpPr/>
          <p:nvPr/>
        </p:nvSpPr>
        <p:spPr>
          <a:xfrm xmlns:a="http://schemas.openxmlformats.org/drawingml/2006/main">
            <a:off x="6433200" y="1260000"/>
            <a:ext cx="52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E8E8E8"/>
                </a:solidFill>
                <a:latin typeface="PingFang SC"/>
                <a:ea typeface="PingFang SC"/>
              </a:rPr>
              <a:t>不适合</a:t>
            </a:r>
          </a:p>
        </p:txBody>
      </p:sp>
      <p:sp>
        <p:nvSpPr>
          <p:cNvPr id="100152" name="RightBullet1"/>
          <p:cNvSpPr txBox="1"/>
          <p:nvPr/>
        </p:nvSpPr>
        <p:spPr>
          <a:xfrm xmlns:a="http://schemas.openxmlformats.org/drawingml/2006/main">
            <a:off x="6793200" y="1980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期望开箱即用、无需任何配置</a:t>
            </a:r>
          </a:p>
        </p:txBody>
      </p:sp>
      <p:sp>
        <p:nvSpPr>
          <p:cNvPr id="100153" name="RightBullet2"/>
          <p:cNvSpPr txBox="1"/>
          <p:nvPr/>
        </p:nvSpPr>
        <p:spPr>
          <a:xfrm xmlns:a="http://schemas.openxmlformats.org/drawingml/2006/main">
            <a:off x="6793200" y="2592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仅执行简单、孤立、单文件小改动</a:t>
            </a:r>
          </a:p>
        </p:txBody>
      </p:sp>
      <p:sp>
        <p:nvSpPr>
          <p:cNvPr id="100154" name="RightBullet3"/>
          <p:cNvSpPr txBox="1"/>
          <p:nvPr/>
        </p:nvSpPr>
        <p:spPr>
          <a:xfrm xmlns:a="http://schemas.openxmlformats.org/drawingml/2006/main">
            <a:off x="6793200" y="3204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严格审计环境且不愿审查第三方 Skills 许可证</a:t>
            </a:r>
          </a:p>
        </p:txBody>
      </p:sp>
      <p:sp>
        <p:nvSpPr>
          <p:cNvPr id="100155" name="BottomNote"/>
          <p:cNvSpPr txBox="1"/>
          <p:nvPr/>
        </p:nvSpPr>
        <p:spPr>
          <a:xfrm xmlns:a="http://schemas.openxmlformats.org/drawingml/2006/main">
            <a:off x="540000" y="5472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E2329"/>
                </a:solidFill>
                <a:latin typeface="PingFang SC"/>
                <a:ea typeface="PingFang SC"/>
              </a:rPr>
              <a:t>当前 v0.1.0 早期版本，是个人偏好的配置预设，不是通用开箱即用发行版。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/>
      <p:sp>
        <p:nvSpPr>
          <p:cNvPr id="100156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10 / 12</a:t>
            </a:r>
          </a:p>
        </p:txBody>
      </p:sp>
      <p:sp>
        <p:nvSpPr>
          <p:cNvPr id="100157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329"/>
                </a:solidFill>
                <a:latin typeface="PingFang SC"/>
                <a:ea typeface="PingFang SC"/>
              </a:rPr>
              <a:t>开始安装：项目级与全局</a:t>
            </a:r>
          </a:p>
        </p:txBody>
      </p:sp>
      <p:sp>
        <p:nvSpPr>
          <p:cNvPr id="100158" name="LeftCard"/>
          <p:cNvSpPr/>
          <p:nvPr/>
        </p:nvSpPr>
        <p:spPr>
          <a:xfrm xmlns:a="http://schemas.openxmlformats.org/drawingml/2006/main">
            <a:off x="540000" y="1260000"/>
            <a:ext cx="52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9" name="LeftCardHeader"/>
          <p:cNvSpPr/>
          <p:nvPr/>
        </p:nvSpPr>
        <p:spPr>
          <a:xfrm xmlns:a="http://schemas.openxmlformats.org/drawingml/2006/main">
            <a:off x="540000" y="1260000"/>
            <a:ext cx="52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项目级安装</a:t>
            </a:r>
          </a:p>
        </p:txBody>
      </p:sp>
      <p:sp>
        <p:nvSpPr>
          <p:cNvPr id="100160" name="LeftStep1"/>
          <p:cNvSpPr txBox="1"/>
          <p:nvPr/>
        </p:nvSpPr>
        <p:spPr>
          <a:xfrm xmlns:a="http://schemas.openxmlformats.org/drawingml/2006/main">
            <a:off x="900000" y="1908000"/>
            <a:ext cx="45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1. 克隆仓库</a:t>
            </a:r>
          </a:p>
        </p:txBody>
      </p:sp>
      <p:sp>
        <p:nvSpPr>
          <p:cNvPr id="100161" name="LeftStep2"/>
          <p:cNvSpPr txBox="1"/>
          <p:nvPr/>
        </p:nvSpPr>
        <p:spPr>
          <a:xfrm xmlns:a="http://schemas.openxmlformats.org/drawingml/2006/main">
            <a:off x="900000" y="2340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2. 复制 AGENTS.md、opencode.json、.opencode/ 到项目根目录</a:t>
            </a:r>
          </a:p>
        </p:txBody>
      </p:sp>
      <p:sp>
        <p:nvSpPr>
          <p:cNvPr id="100162" name="LeftStep3"/>
          <p:cNvSpPr txBox="1"/>
          <p:nvPr/>
        </p:nvSpPr>
        <p:spPr>
          <a:xfrm xmlns:a="http://schemas.openxmlformats.org/drawingml/2006/main">
            <a:off x="900000" y="2916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3. 若已有同名配置，手动合并，不要直接覆盖</a:t>
            </a:r>
          </a:p>
        </p:txBody>
      </p:sp>
      <p:sp>
        <p:nvSpPr>
          <p:cNvPr id="100163" name="LeftStep4"/>
          <p:cNvSpPr txBox="1"/>
          <p:nvPr/>
        </p:nvSpPr>
        <p:spPr>
          <a:xfrm xmlns:a="http://schemas.openxmlformats.org/drawingml/2006/main">
            <a:off x="900000" y="3492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4. 修改 .opencode/oh-my-opencode-slim.json 中的模型</a:t>
            </a:r>
          </a:p>
        </p:txBody>
      </p:sp>
      <p:sp>
        <p:nvSpPr>
          <p:cNvPr id="100164" name="LeftStep5"/>
          <p:cNvSpPr txBox="1"/>
          <p:nvPr/>
        </p:nvSpPr>
        <p:spPr>
          <a:xfrm xmlns:a="http://schemas.openxmlformats.org/drawingml/2006/main">
            <a:off x="900000" y="4032000"/>
            <a:ext cx="45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5. 重启 OpenCode</a:t>
            </a:r>
          </a:p>
        </p:txBody>
      </p:sp>
      <p:sp>
        <p:nvSpPr>
          <p:cNvPr id="100165" name="RightCard"/>
          <p:cNvSpPr/>
          <p:nvPr/>
        </p:nvSpPr>
        <p:spPr>
          <a:xfrm xmlns:a="http://schemas.openxmlformats.org/drawingml/2006/main">
            <a:off x="6433200" y="1260000"/>
            <a:ext cx="52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6" name="RightCardHeader"/>
          <p:cNvSpPr/>
          <p:nvPr/>
        </p:nvSpPr>
        <p:spPr>
          <a:xfrm xmlns:a="http://schemas.openxmlformats.org/drawingml/2006/main">
            <a:off x="6433200" y="1260000"/>
            <a:ext cx="52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E8E8E8"/>
                </a:solidFill>
                <a:latin typeface="PingFang SC"/>
                <a:ea typeface="PingFang SC"/>
              </a:rPr>
              <a:t>全局安装</a:t>
            </a:r>
          </a:p>
        </p:txBody>
      </p:sp>
      <p:sp>
        <p:nvSpPr>
          <p:cNvPr id="100167" name="RightStep1"/>
          <p:cNvSpPr txBox="1"/>
          <p:nvPr/>
        </p:nvSpPr>
        <p:spPr>
          <a:xfrm xmlns:a="http://schemas.openxmlformats.org/drawingml/2006/main">
            <a:off x="6793200" y="1908000"/>
            <a:ext cx="45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1. 将 AGENTS.md、opencode.json、.opencode/ 内容合并到 ~/.config/opencode/</a:t>
            </a:r>
          </a:p>
        </p:txBody>
      </p:sp>
      <p:sp>
        <p:nvSpPr>
          <p:cNvPr id="100168" name="RightStep2"/>
          <p:cNvSpPr txBox="1"/>
          <p:nvPr/>
        </p:nvSpPr>
        <p:spPr>
          <a:xfrm xmlns:a="http://schemas.openxmlformats.org/drawingml/2006/main">
            <a:off x="6793200" y="2754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2. 不要把整个仓库复制成 ~/.config/opencode/.opencode/</a:t>
            </a:r>
          </a:p>
        </p:txBody>
      </p:sp>
      <p:sp>
        <p:nvSpPr>
          <p:cNvPr id="100169" name="RightStep3"/>
          <p:cNvSpPr txBox="1"/>
          <p:nvPr/>
        </p:nvSpPr>
        <p:spPr>
          <a:xfrm xmlns:a="http://schemas.openxmlformats.org/drawingml/2006/main">
            <a:off x="6793200" y="3366000"/>
            <a:ext cx="45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3. 修改模型配置为你的 Provider 可用模型</a:t>
            </a:r>
          </a:p>
        </p:txBody>
      </p:sp>
      <p:sp>
        <p:nvSpPr>
          <p:cNvPr id="100170" name="RightStep4"/>
          <p:cNvSpPr txBox="1"/>
          <p:nvPr/>
        </p:nvSpPr>
        <p:spPr>
          <a:xfrm xmlns:a="http://schemas.openxmlformats.org/drawingml/2006/main">
            <a:off x="6793200" y="3978000"/>
            <a:ext cx="45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4. 重启 OpenCode</a:t>
            </a:r>
          </a:p>
        </p:txBody>
      </p:sp>
      <p:sp>
        <p:nvSpPr>
          <p:cNvPr id="100171" name="BottomNote"/>
          <p:cNvSpPr txBox="1"/>
          <p:nvPr/>
        </p:nvSpPr>
        <p:spPr>
          <a:xfrm xmlns:a="http://schemas.openxmlformats.org/drawingml/2006/main">
            <a:off x="540000" y="5472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E2329"/>
                </a:solidFill>
                <a:latin typeface="PingFang SC"/>
                <a:ea typeface="PingFang SC"/>
              </a:rPr>
              <a:t>修改配置后必须重启 OpenCode；未安装的可选组件不会阻断不相关的工作流。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/>
      <p:sp>
        <p:nvSpPr>
          <p:cNvPr id="100172" name="PageTag"/>
          <p:cNvSpPr txBox="1"/>
          <p:nvPr/>
        </p:nvSpPr>
        <p:spPr>
          <a:xfrm xmlns:a="http://schemas.openxmlformats.org/drawingml/2006/main">
            <a:off x="540000" y="360000"/>
            <a:ext cx="1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7A8590"/>
                </a:solidFill>
                <a:latin typeface="PingFang SC"/>
                <a:ea typeface="PingFang SC"/>
              </a:rPr>
              <a:t>11 / 12</a:t>
            </a:r>
          </a:p>
        </p:txBody>
      </p:sp>
      <p:sp>
        <p:nvSpPr>
          <p:cNvPr id="100173" name="Title"/>
          <p:cNvSpPr txBox="1"/>
          <p:nvPr/>
        </p:nvSpPr>
        <p:spPr>
          <a:xfrm xmlns:a="http://schemas.openxmlformats.org/drawingml/2006/main">
            <a:off x="540000" y="648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329"/>
                </a:solidFill>
                <a:latin typeface="PingFang SC"/>
                <a:ea typeface="PingFang SC"/>
              </a:rPr>
              <a:t>安装后检查</a:t>
            </a:r>
          </a:p>
        </p:txBody>
      </p:sp>
      <p:sp>
        <p:nvSpPr>
          <p:cNvPr id="100174" name="Box1"/>
          <p:cNvSpPr/>
          <p:nvPr/>
        </p:nvSpPr>
        <p:spPr>
          <a:xfrm xmlns:a="http://schemas.openxmlformats.org/drawingml/2006/main">
            <a:off x="540000" y="1620000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5" name="Text1"/>
          <p:cNvSpPr txBox="1"/>
          <p:nvPr/>
        </p:nvSpPr>
        <p:spPr>
          <a:xfrm xmlns:a="http://schemas.openxmlformats.org/drawingml/2006/main">
            <a:off x="1008000" y="1620000"/>
            <a:ext cx="10440000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确认 Orchestrator、Designer、Explorer、Fixer、Librarian、Observer、Oracle 等主要 Agent 可见</a:t>
            </a:r>
          </a:p>
        </p:txBody>
      </p:sp>
      <p:sp>
        <p:nvSpPr>
          <p:cNvPr id="100176" name="Box2"/>
          <p:cNvSpPr/>
          <p:nvPr/>
        </p:nvSpPr>
        <p:spPr>
          <a:xfrm xmlns:a="http://schemas.openxmlformats.org/drawingml/2006/main">
            <a:off x="540000" y="2232000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7" name="Text2"/>
          <p:cNvSpPr txBox="1"/>
          <p:nvPr/>
        </p:nvSpPr>
        <p:spPr>
          <a:xfrm xmlns:a="http://schemas.openxmlformats.org/drawingml/2006/main">
            <a:off x="1008000" y="2232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确认已安装的 MCP（如 CodeGraph、OfficeCLI）能正常启动</a:t>
            </a:r>
          </a:p>
        </p:txBody>
      </p:sp>
      <p:sp>
        <p:nvSpPr>
          <p:cNvPr id="100178" name="Box3"/>
          <p:cNvSpPr/>
          <p:nvPr/>
        </p:nvSpPr>
        <p:spPr>
          <a:xfrm xmlns:a="http://schemas.openxmlformats.org/drawingml/2006/main">
            <a:off x="540000" y="2844000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9" name="Text3"/>
          <p:cNvSpPr txBox="1"/>
          <p:nvPr/>
        </p:nvSpPr>
        <p:spPr>
          <a:xfrm xmlns:a="http://schemas.openxmlformats.org/drawingml/2006/main">
            <a:off x="1008000" y="2844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执行 /context 返回 Token 统计（需先安装 tokenizer 依赖）</a:t>
            </a:r>
          </a:p>
        </p:txBody>
      </p:sp>
      <p:sp>
        <p:nvSpPr>
          <p:cNvPr id="100180" name="Box4"/>
          <p:cNvSpPr/>
          <p:nvPr/>
        </p:nvSpPr>
        <p:spPr>
          <a:xfrm xmlns:a="http://schemas.openxmlformats.org/drawingml/2006/main">
            <a:off x="540000" y="3456000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1" name="Text4"/>
          <p:cNvSpPr txBox="1"/>
          <p:nvPr/>
        </p:nvSpPr>
        <p:spPr>
          <a:xfrm xmlns:a="http://schemas.openxmlformats.org/drawingml/2006/main">
            <a:off x="1008000" y="3456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人工冒烟：输入 ping all agents 观察是否可见/可响应</a:t>
            </a:r>
          </a:p>
        </p:txBody>
      </p:sp>
      <p:sp>
        <p:nvSpPr>
          <p:cNvPr id="100182" name="Box5"/>
          <p:cNvSpPr/>
          <p:nvPr/>
        </p:nvSpPr>
        <p:spPr>
          <a:xfrm xmlns:a="http://schemas.openxmlformats.org/drawingml/2006/main">
            <a:off x="540000" y="4068000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3" name="Text5"/>
          <p:cNvSpPr txBox="1"/>
          <p:nvPr/>
        </p:nvSpPr>
        <p:spPr>
          <a:xfrm xmlns:a="http://schemas.openxmlformats.org/drawingml/2006/main">
            <a:off x="1008000" y="4068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E2329"/>
                </a:solidFill>
                <a:latin typeface="PingFang SC"/>
                <a:ea typeface="PingFang SC"/>
              </a:rPr>
              <a:t>未安装的可选组件（DCG、tokenizer 等）不会阻断不相关的工作流</a:t>
            </a:r>
          </a:p>
        </p:txBody>
      </p:sp>
      <p:sp>
        <p:nvSpPr>
          <p:cNvPr id="100184" name="Caption"/>
          <p:cNvSpPr txBox="1"/>
          <p:nvPr/>
        </p:nvSpPr>
        <p:spPr>
          <a:xfrm xmlns:a="http://schemas.openxmlformats.org/drawingml/2006/main">
            <a:off x="540000" y="5580000"/>
            <a:ext cx="1111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7A8590"/>
                </a:solidFill>
                <a:latin typeface="PingFang SC"/>
                <a:ea typeface="PingFang SC"/>
              </a:rPr>
              <a:t>来源：docs/installation.md。检查清单是人工冒烟步骤，不是确定性自动化测试。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/>
      <p:sp>
        <p:nvSpPr>
          <p:cNvPr id="100185" name="TopLine"/>
          <p:cNvSpPr/>
          <p:nvPr/>
        </p:nvSpPr>
        <p:spPr>
          <a:xfrm xmlns:a="http://schemas.openxmlformats.org/drawingml/2006/main">
            <a:off x="0" y="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A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6" name="Title"/>
          <p:cNvSpPr txBox="1"/>
          <p:nvPr/>
        </p:nvSpPr>
        <p:spPr>
          <a:xfrm xmlns:a="http://schemas.openxmlformats.org/drawingml/2006/main">
            <a:off x="720000" y="234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E8E8E8"/>
                </a:solidFill>
                <a:latin typeface="PingFang SC"/>
                <a:ea typeface="PingFang SC"/>
              </a:rPr>
              <a:t>把复杂任务拆给专业角色</a:t>
            </a:r>
          </a:p>
        </p:txBody>
      </p:sp>
      <p:sp>
        <p:nvSpPr>
          <p:cNvPr id="100187" name="Subtitle"/>
          <p:cNvSpPr txBox="1"/>
          <p:nvPr/>
        </p:nvSpPr>
        <p:spPr>
          <a:xfrm xmlns:a="http://schemas.openxmlformats.org/drawingml/2006/main">
            <a:off x="720000" y="360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9AA5B1"/>
                </a:solidFill>
                <a:latin typeface="PingFang SC"/>
                <a:ea typeface="PingFang SC"/>
              </a:rPr>
              <a:t>多 Agent 编排是一种组织方式，不是万能药。</a:t>
            </a:r>
          </a:p>
        </p:txBody>
      </p:sp>
      <p:sp>
        <p:nvSpPr>
          <p:cNvPr id="100188" name="Takeaway"/>
          <p:cNvSpPr txBox="1"/>
          <p:nvPr/>
        </p:nvSpPr>
        <p:spPr>
          <a:xfrm xmlns:a="http://schemas.openxmlformats.org/drawingml/2006/main">
            <a:off x="720000" y="432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00A9A5"/>
                </a:solidFill>
                <a:latin typeface="PingFang SC"/>
                <a:ea typeface="PingFang SC"/>
              </a:rPr>
              <a:t>核心收益：专业化分工 + 验证闭环</a:t>
            </a:r>
          </a:p>
        </p:txBody>
      </p:sp>
      <p:sp>
        <p:nvSpPr>
          <p:cNvPr id="100189" name="Meta"/>
          <p:cNvSpPr txBox="1"/>
          <p:nvPr/>
        </p:nvSpPr>
        <p:spPr>
          <a:xfrm xmlns:a="http://schemas.openxmlformats.org/drawingml/2006/main">
            <a:off x="720000" y="5220000"/>
            <a:ext cx="1075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7A8590"/>
                </a:solidFill>
                <a:latin typeface="PingFang SC"/>
                <a:ea typeface="PingFang SC"/>
              </a:rPr>
              <a:t>OpenCode Preset v0.1.0 · 2026-07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2026-07-23T04:39:29Z</dcterms:created>
  <cp:lastModifiedBy>OfficeCLI</cp:lastModifiedBy>
  <dcterms:modified xsi:type="dcterms:W3CDTF">2026-07-23T04:39:29Z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1.0.138</vt:lpwstr>
  </op:property>
  <op:property fmtid="{D5CDD505-2E9C-101B-9397-08002B2CF9AE}" pid="3" name="OfficeCLI.LastModified">
    <vt:lpwstr xmlns:vt="http://schemas.openxmlformats.org/officeDocument/2006/docPropsVTypes">2026-07-23T05:03:12Z</vt:lpwstr>
  </op:property>
</op:Properties>
</file>